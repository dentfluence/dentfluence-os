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 for your time, Dr. Chitguppi. What you're about to see isn't a pitch — it's the architecture of a system built inside a working clinic, over years, to solve real problems we lived through.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didn't start as a software founder. I started as a dentist who got tired of eleven different tools that refused to talk to each other.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isn't hypothetical. This is Monday morning in most clinics — including ours, before we built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 PMS platforms are genuinely excellent at scheduling and records. They were simply never built to run the practice as a business.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Think of it the way an operating system relates to the apps on your phone. Everything else can plug into this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product decision gets run through these filters before it ships. If a feature fails one of them, it doesn't 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same map my engineering team uses internally to track production readiness, module by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one of these steps writes to the same patient record. Nothing gets re-typed, nothing gets lost between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won't walk through all sixteen individually — but notice: every one of them connects back to a single patient identity.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None of the complexity you've seen so far should ever be visible to the patient. That's the actual measure of whether this 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Reception doesn't see what the owner sees. But they're both looking at the same underlying truth, in real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loop most clinics quietly lose money in — the gap between 'consultation' and 'recall'. The system exists to close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built this because bolting a CRM onto a PMS never actually works in practice — the data always lags behind reality.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 clinic, ambiguity is exactly where trust breaks down between doctor and staff. We designed that ambiguity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India's DPDP Act has a hard compliance deadline. We're building to it now, deliberately, rather than retrofitting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deliberately did not build fear-based recall messaging. It works short-term and quietly destroys trust long-term.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AI feature we ship has one hard rule: it can suggest, it can draft, it can flag. It cannot decide.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want to be direct: none of this exists yet. This is where the architecture is designed to go — not what I'm asking you to evaluate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literal checklist every module must pass before we call it production-ready. Nothing skips a gate.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Code can be copied in a weekend. Three years of clinical workflow refinement inside a real, operating practice cannot.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I'd rather show you the shape of the opportunity than throw a market-size number at you that neither of us can verify in this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are deliberately not skipping steps. Every clinic after Tulip Dental has to be earned on product quality, not sales pressure.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didn't want this conversation to be about money. We wanted it to be about the product, and about your judgment of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we're asking for today is your perspective — not your money, not an endorsement. Your critique, honestly, is worth more to us right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you, Dr. Chitguppi. I'd welcome your questions — and your skepticism.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46888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00">
                <a:solidFill>
                  <a:srgbClr val="702070"/>
                </a:solidFill>
                <a:latin typeface="Helvetica"/>
              </a:rPr>
              <a:t>DENTFLUENCE 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834640"/>
            <a:ext cx="98755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14121A"/>
                </a:solidFill>
                <a:latin typeface="Helvetica"/>
              </a:rPr>
              <a:t>Dentfluence 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79476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6B6470"/>
                </a:solidFill>
                <a:latin typeface="Helvetica"/>
              </a:rPr>
              <a:t>The Operating System for Modern Dentistry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48056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6B6470"/>
                </a:solidFill>
                <a:latin typeface="Helvetica"/>
              </a:rPr>
              <a:t>A private briefing for Dr. Rajeev Chitguppi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180">
                <a:solidFill>
                  <a:srgbClr val="702070"/>
                </a:solidFill>
                <a:latin typeface="Helvetica"/>
              </a:rPr>
              <a:t>FOUNDER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04672"/>
            <a:ext cx="105156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1" i="0">
                <a:solidFill>
                  <a:srgbClr val="14121A"/>
                </a:solidFill>
                <a:latin typeface="Helvetica"/>
              </a:rPr>
              <a:t>Dr. Sumit Firke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38528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6B6470"/>
                </a:solidFill>
                <a:latin typeface="Helvetica"/>
              </a:rPr>
              <a:t>Dentist. Founder. Builder.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6858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550">
                <a:solidFill>
                  <a:srgbClr val="14121A"/>
                </a:solidFill>
              </a:rPr>
              <a:t>—  Practicing dentist</a:t>
            </a:r>
          </a:p>
          <a:p>
            <a:pPr>
              <a:spcAft>
                <a:spcPts val="1100"/>
              </a:spcAft>
            </a:pPr>
            <a:r>
              <a:rPr sz="1550">
                <a:solidFill>
                  <a:srgbClr val="14121A"/>
                </a:solidFill>
              </a:rPr>
              <a:t>—  Founder of Dentfluence</a:t>
            </a:r>
          </a:p>
          <a:p>
            <a:pPr>
              <a:spcAft>
                <a:spcPts val="1100"/>
              </a:spcAft>
            </a:pPr>
            <a:r>
              <a:rPr sz="1550">
                <a:solidFill>
                  <a:srgbClr val="14121A"/>
                </a:solidFill>
              </a:rPr>
              <a:t>—  Built from real clinical pain</a:t>
            </a:r>
          </a:p>
          <a:p>
            <a:pPr>
              <a:spcAft>
                <a:spcPts val="1100"/>
              </a:spcAft>
            </a:pPr>
            <a:r>
              <a:rPr sz="1550">
                <a:solidFill>
                  <a:srgbClr val="14121A"/>
                </a:solidFill>
              </a:rPr>
              <a:t>—  Built inside a working dental clinic — Tulip Dental</a:t>
            </a:r>
          </a:p>
          <a:p>
            <a:pPr>
              <a:spcAft>
                <a:spcPts val="1100"/>
              </a:spcAft>
            </a:pPr>
            <a:r>
              <a:rPr sz="1550">
                <a:solidFill>
                  <a:srgbClr val="14121A"/>
                </a:solidFill>
              </a:rPr>
              <a:t>—  Every workflow tested on real patients before it shipped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4652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spc="100">
                <a:solidFill>
                  <a:srgbClr val="6B6470"/>
                </a:solidFill>
                <a:latin typeface="Helvetica"/>
              </a:rPr>
              <a:t>DENTFLUENCE 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470"/>
                </a:solidFill>
                <a:latin typeface="Helvetica"/>
              </a:rPr>
              <a:t>02 / 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180">
                <a:solidFill>
                  <a:srgbClr val="702070"/>
                </a:solidFill>
                <a:latin typeface="Helvetica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04672"/>
            <a:ext cx="105156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1" i="0">
                <a:solidFill>
                  <a:srgbClr val="14121A"/>
                </a:solidFill>
                <a:latin typeface="Helvetica"/>
              </a:rPr>
              <a:t>Dentistry runs on fragments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38528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6B6470"/>
                </a:solidFill>
                <a:latin typeface="Helvetica"/>
              </a:rPr>
              <a:t>Nothing is connected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606040"/>
            <a:ext cx="340553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" y="2729484"/>
            <a:ext cx="82296" cy="82296"/>
          </a:xfrm>
          <a:prstGeom prst="ellipse">
            <a:avLst/>
          </a:prstGeom>
          <a:solidFill>
            <a:srgbClr val="702070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2898648"/>
            <a:ext cx="314949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14121A"/>
                </a:solidFill>
                <a:latin typeface="Helvetica"/>
              </a:rPr>
              <a:t>Excel sheets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93082" y="2606040"/>
            <a:ext cx="340553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16526" y="2729484"/>
            <a:ext cx="82296" cy="82296"/>
          </a:xfrm>
          <a:prstGeom prst="ellipse">
            <a:avLst/>
          </a:prstGeom>
          <a:solidFill>
            <a:srgbClr val="702070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1098" y="2898648"/>
            <a:ext cx="314949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14121A"/>
                </a:solidFill>
                <a:latin typeface="Helvetica"/>
              </a:rPr>
              <a:t>Paper registers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63204" y="2606040"/>
            <a:ext cx="340553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086648" y="2729484"/>
            <a:ext cx="82296" cy="82296"/>
          </a:xfrm>
          <a:prstGeom prst="ellipse">
            <a:avLst/>
          </a:prstGeom>
          <a:solidFill>
            <a:srgbClr val="702070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1220" y="2898648"/>
            <a:ext cx="314949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14121A"/>
                </a:solidFill>
                <a:latin typeface="Helvetica"/>
              </a:rPr>
              <a:t>WhatsApp for follow-up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822192"/>
            <a:ext cx="340553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6404" y="3945636"/>
            <a:ext cx="82296" cy="82296"/>
          </a:xfrm>
          <a:prstGeom prst="ellipse">
            <a:avLst/>
          </a:prstGeom>
          <a:solidFill>
            <a:srgbClr val="702070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" y="4114800"/>
            <a:ext cx="314949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14121A"/>
                </a:solidFill>
                <a:latin typeface="Helvetica"/>
              </a:rPr>
              <a:t>A CRM, bolted 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93082" y="3822192"/>
            <a:ext cx="340553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16526" y="3945636"/>
            <a:ext cx="82296" cy="82296"/>
          </a:xfrm>
          <a:prstGeom prst="ellipse">
            <a:avLst/>
          </a:prstGeom>
          <a:solidFill>
            <a:srgbClr val="702070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1098" y="4114800"/>
            <a:ext cx="314949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14121A"/>
                </a:solidFill>
                <a:latin typeface="Helvetica"/>
              </a:rPr>
              <a:t>Separate billing software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63204" y="3822192"/>
            <a:ext cx="340553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086648" y="3945636"/>
            <a:ext cx="82296" cy="82296"/>
          </a:xfrm>
          <a:prstGeom prst="ellipse">
            <a:avLst/>
          </a:prstGeom>
          <a:solidFill>
            <a:srgbClr val="702070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91220" y="4114800"/>
            <a:ext cx="314949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14121A"/>
                </a:solidFill>
                <a:latin typeface="Helvetica"/>
              </a:rPr>
              <a:t>A separate PMS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44652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spc="100">
                <a:solidFill>
                  <a:srgbClr val="6B6470"/>
                </a:solidFill>
                <a:latin typeface="Helvetica"/>
              </a:rPr>
              <a:t>DENTFLUENCE 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470"/>
                </a:solidFill>
                <a:latin typeface="Helvetica"/>
              </a:rPr>
              <a:t>03 / 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180">
                <a:solidFill>
                  <a:srgbClr val="702070"/>
                </a:solidFill>
                <a:latin typeface="Helvetica"/>
              </a:rPr>
              <a:t>THE STATUS QUO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04672"/>
            <a:ext cx="105156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1" i="0">
                <a:solidFill>
                  <a:srgbClr val="14121A"/>
                </a:solidFill>
                <a:latin typeface="Helvetica"/>
              </a:rPr>
              <a:t>What a PMS does — and doesn't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38528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6B6470"/>
                </a:solidFill>
                <a:latin typeface="Helvetica"/>
              </a:rPr>
              <a:t>Practice management software was never built to run the practice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606040"/>
            <a:ext cx="502920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78892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00">
                <a:solidFill>
                  <a:srgbClr val="6B6470"/>
                </a:solidFill>
                <a:latin typeface="Helvetica"/>
              </a:rPr>
              <a:t>WHAT IT DOES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29184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702070"/>
                </a:solidFill>
                <a:latin typeface="Helvetica"/>
              </a:rPr>
              <a:t>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4752" y="3291840"/>
            <a:ext cx="4160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4121A"/>
                </a:solidFill>
                <a:latin typeface="Helvetica"/>
              </a:rPr>
              <a:t>Scheduling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730752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702070"/>
                </a:solidFill>
                <a:latin typeface="Helvetica"/>
              </a:rPr>
              <a:t>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4752" y="3730752"/>
            <a:ext cx="4160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4121A"/>
                </a:solidFill>
                <a:latin typeface="Helvetica"/>
              </a:rPr>
              <a:t>Patient records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169664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702070"/>
                </a:solidFill>
                <a:latin typeface="Helvetica"/>
              </a:rPr>
              <a:t>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4752" y="4169664"/>
            <a:ext cx="4160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4121A"/>
                </a:solidFill>
                <a:latin typeface="Helvetica"/>
              </a:rPr>
              <a:t>Basic billing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606040"/>
            <a:ext cx="502920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78892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00">
                <a:solidFill>
                  <a:srgbClr val="6B6470"/>
                </a:solidFill>
                <a:latin typeface="Helvetica"/>
              </a:rPr>
              <a:t>WHAT IT CANNOT 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29184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B6470"/>
                </a:solidFill>
                <a:latin typeface="Helvetica"/>
              </a:rPr>
              <a:t>-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31152" y="3291840"/>
            <a:ext cx="4160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4121A"/>
                </a:solidFill>
                <a:latin typeface="Helvetica"/>
              </a:rPr>
              <a:t>Connect relationships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730752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B6470"/>
                </a:solidFill>
                <a:latin typeface="Helvetica"/>
              </a:rPr>
              <a:t>-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31152" y="3730752"/>
            <a:ext cx="4160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4121A"/>
                </a:solidFill>
                <a:latin typeface="Helvetica"/>
              </a:rPr>
              <a:t>Drive follow-up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4169664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B6470"/>
                </a:solidFill>
                <a:latin typeface="Helvetica"/>
              </a:rPr>
              <a:t>-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31152" y="4169664"/>
            <a:ext cx="4160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4121A"/>
                </a:solidFill>
                <a:latin typeface="Helvetica"/>
              </a:rPr>
              <a:t>See business impact of a plan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4608576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B6470"/>
                </a:solidFill>
                <a:latin typeface="Helvetica"/>
              </a:rPr>
              <a:t>-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31152" y="4608576"/>
            <a:ext cx="4160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4121A"/>
                </a:solidFill>
                <a:latin typeface="Helvetica"/>
              </a:rPr>
              <a:t>Adapt to daily clinic rhythm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44652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spc="100">
                <a:solidFill>
                  <a:srgbClr val="6B6470"/>
                </a:solidFill>
                <a:latin typeface="Helvetica"/>
              </a:rPr>
              <a:t>DENTFLUENCE 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470"/>
                </a:solidFill>
                <a:latin typeface="Helvetica"/>
              </a:rPr>
              <a:t>04 / 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180">
                <a:solidFill>
                  <a:srgbClr val="702070"/>
                </a:solidFill>
                <a:latin typeface="Helvetica"/>
              </a:rPr>
              <a:t>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04672"/>
            <a:ext cx="105156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1" i="0">
                <a:solidFill>
                  <a:srgbClr val="14121A"/>
                </a:solidFill>
                <a:latin typeface="Helvetica"/>
              </a:rPr>
              <a:t>What is Dentfluence 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38528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6B6470"/>
                </a:solidFill>
                <a:latin typeface="Helvetica"/>
              </a:rPr>
              <a:t>An operating system — not a point tool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66160" y="2514600"/>
            <a:ext cx="5029200" cy="5029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8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66160" y="2587752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6B6470"/>
                </a:solidFill>
                <a:latin typeface="Helvetica"/>
              </a:rPr>
              <a:t>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3136392"/>
            <a:ext cx="5029200" cy="5029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8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3209544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6B6470"/>
                </a:solidFill>
                <a:latin typeface="Helvetica"/>
              </a:rPr>
              <a:t>EMR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3758184"/>
            <a:ext cx="5029200" cy="5029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8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3831336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6B6470"/>
                </a:solidFill>
                <a:latin typeface="Helvetica"/>
              </a:rPr>
              <a:t>CRM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4379976"/>
            <a:ext cx="5029200" cy="5029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8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4453128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6B6470"/>
                </a:solidFill>
                <a:latin typeface="Helvetica"/>
              </a:rPr>
              <a:t>PMS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60" y="5001768"/>
            <a:ext cx="5029200" cy="685800"/>
          </a:xfrm>
          <a:prstGeom prst="roundRect">
            <a:avLst>
              <a:gd name="adj" fmla="val 15000"/>
            </a:avLst>
          </a:prstGeom>
          <a:solidFill>
            <a:srgbClr val="702070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5184648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Helvetica"/>
              </a:rPr>
              <a:t>Dentfluence 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44652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spc="100">
                <a:solidFill>
                  <a:srgbClr val="6B6470"/>
                </a:solidFill>
                <a:latin typeface="Helvetica"/>
              </a:rPr>
              <a:t>DENTFLUENCE 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470"/>
                </a:solidFill>
                <a:latin typeface="Helvetica"/>
              </a:rPr>
              <a:t>05 / 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180">
                <a:solidFill>
                  <a:srgbClr val="702070"/>
                </a:solidFill>
                <a:latin typeface="Helvetica"/>
              </a:rPr>
              <a:t>PHILOSOPHY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04672"/>
            <a:ext cx="105156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1" i="0">
                <a:solidFill>
                  <a:srgbClr val="14121A"/>
                </a:solidFill>
                <a:latin typeface="Helvetica"/>
              </a:rPr>
              <a:t>Dentfluence Philosophy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38528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6B6470"/>
                </a:solidFill>
                <a:latin typeface="Helvetica"/>
              </a:rPr>
              <a:t>Six principles, no exceptions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606040"/>
            <a:ext cx="340553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" y="2729484"/>
            <a:ext cx="82296" cy="82296"/>
          </a:xfrm>
          <a:prstGeom prst="ellipse">
            <a:avLst/>
          </a:prstGeom>
          <a:solidFill>
            <a:srgbClr val="702070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2898648"/>
            <a:ext cx="314949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14121A"/>
                </a:solidFill>
                <a:latin typeface="Helvetica"/>
              </a:rPr>
              <a:t>Ethics 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3227832"/>
            <a:ext cx="314949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50" b="0" i="0">
                <a:solidFill>
                  <a:srgbClr val="6B6470"/>
                </a:solidFill>
                <a:latin typeface="Helvetica"/>
              </a:rPr>
              <a:t>Every decision passes an ethics check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3082" y="2606040"/>
            <a:ext cx="340553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16526" y="2729484"/>
            <a:ext cx="82296" cy="82296"/>
          </a:xfrm>
          <a:prstGeom prst="ellipse">
            <a:avLst/>
          </a:prstGeom>
          <a:solidFill>
            <a:srgbClr val="702070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1098" y="2898648"/>
            <a:ext cx="314949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14121A"/>
                </a:solidFill>
                <a:latin typeface="Helvetica"/>
              </a:rPr>
              <a:t>Workflow First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1098" y="3227832"/>
            <a:ext cx="314949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50" b="0" i="0">
                <a:solidFill>
                  <a:srgbClr val="6B6470"/>
                </a:solidFill>
                <a:latin typeface="Helvetica"/>
              </a:rPr>
              <a:t>Software follows real clinic workflow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63204" y="2606040"/>
            <a:ext cx="340553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86648" y="2729484"/>
            <a:ext cx="82296" cy="82296"/>
          </a:xfrm>
          <a:prstGeom prst="ellipse">
            <a:avLst/>
          </a:prstGeom>
          <a:solidFill>
            <a:srgbClr val="702070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1220" y="2898648"/>
            <a:ext cx="314949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14121A"/>
                </a:solidFill>
                <a:latin typeface="Helvetica"/>
              </a:rPr>
              <a:t>Dentist First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1220" y="3227832"/>
            <a:ext cx="314949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50" b="0" i="0">
                <a:solidFill>
                  <a:srgbClr val="6B6470"/>
                </a:solidFill>
                <a:latin typeface="Helvetica"/>
              </a:rPr>
              <a:t>Built for the clinician's day, not a demo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822192"/>
            <a:ext cx="340553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46404" y="3945636"/>
            <a:ext cx="82296" cy="82296"/>
          </a:xfrm>
          <a:prstGeom prst="ellipse">
            <a:avLst/>
          </a:prstGeom>
          <a:solidFill>
            <a:srgbClr val="702070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" y="4114800"/>
            <a:ext cx="314949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14121A"/>
                </a:solidFill>
                <a:latin typeface="Helvetica"/>
              </a:rPr>
              <a:t>AI Assists · Doctor Decides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" y="4443984"/>
            <a:ext cx="314949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50" b="0" i="0">
                <a:solidFill>
                  <a:srgbClr val="6B6470"/>
                </a:solidFill>
                <a:latin typeface="Helvetica"/>
              </a:rPr>
              <a:t>AI never makes the final call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93082" y="3822192"/>
            <a:ext cx="340553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516526" y="3945636"/>
            <a:ext cx="82296" cy="82296"/>
          </a:xfrm>
          <a:prstGeom prst="ellipse">
            <a:avLst/>
          </a:prstGeom>
          <a:solidFill>
            <a:srgbClr val="702070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1098" y="4114800"/>
            <a:ext cx="314949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14121A"/>
                </a:solidFill>
                <a:latin typeface="Helvetica"/>
              </a:rPr>
              <a:t>Transparent Growth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1098" y="4443984"/>
            <a:ext cx="314949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50" b="0" i="0">
                <a:solidFill>
                  <a:srgbClr val="6B6470"/>
                </a:solidFill>
                <a:latin typeface="Helvetica"/>
              </a:rPr>
              <a:t>No hidden manipulation, ever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644652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spc="100">
                <a:solidFill>
                  <a:srgbClr val="6B6470"/>
                </a:solidFill>
                <a:latin typeface="Helvetica"/>
              </a:rPr>
              <a:t>DENTFLUENCE 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470"/>
                </a:solidFill>
                <a:latin typeface="Helvetica"/>
              </a:rPr>
              <a:t>06 / 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180">
                <a:solidFill>
                  <a:srgbClr val="702070"/>
                </a:solidFill>
                <a:latin typeface="Helvetica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04672"/>
            <a:ext cx="105156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1" i="0">
                <a:solidFill>
                  <a:srgbClr val="14121A"/>
                </a:solidFill>
                <a:latin typeface="Helvetica"/>
              </a:rPr>
              <a:t>High-Level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38528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6B6470"/>
                </a:solidFill>
                <a:latin typeface="Helvetica"/>
              </a:rPr>
              <a:t>Six layers. One system.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606040"/>
            <a:ext cx="340553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" y="2729484"/>
            <a:ext cx="82296" cy="82296"/>
          </a:xfrm>
          <a:prstGeom prst="ellipse">
            <a:avLst/>
          </a:prstGeom>
          <a:solidFill>
            <a:srgbClr val="702070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2898648"/>
            <a:ext cx="314949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14121A"/>
                </a:solidFill>
                <a:latin typeface="Helvetica"/>
              </a:rPr>
              <a:t>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3227832"/>
            <a:ext cx="314949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50" b="0" i="0">
                <a:solidFill>
                  <a:srgbClr val="6B6470"/>
                </a:solidFill>
                <a:latin typeface="Helvetica"/>
              </a:rPr>
              <a:t>Roadmap, directives, readiness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3082" y="2606040"/>
            <a:ext cx="340553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16526" y="2729484"/>
            <a:ext cx="82296" cy="82296"/>
          </a:xfrm>
          <a:prstGeom prst="ellipse">
            <a:avLst/>
          </a:prstGeom>
          <a:solidFill>
            <a:srgbClr val="702070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1098" y="2898648"/>
            <a:ext cx="314949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14121A"/>
                </a:solidFill>
                <a:latin typeface="Helvetica"/>
              </a:rPr>
              <a:t>Clinical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1098" y="3227832"/>
            <a:ext cx="314949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50" b="0" i="0">
                <a:solidFill>
                  <a:srgbClr val="6B6470"/>
                </a:solidFill>
                <a:latin typeface="Helvetica"/>
              </a:rPr>
              <a:t>Patients, consultations, treatment plans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63204" y="2606040"/>
            <a:ext cx="340553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86648" y="2729484"/>
            <a:ext cx="82296" cy="82296"/>
          </a:xfrm>
          <a:prstGeom prst="ellipse">
            <a:avLst/>
          </a:prstGeom>
          <a:solidFill>
            <a:srgbClr val="702070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1220" y="2898648"/>
            <a:ext cx="314949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14121A"/>
                </a:solidFill>
                <a:latin typeface="Helvetica"/>
              </a:rPr>
              <a:t>Communication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1220" y="3227832"/>
            <a:ext cx="314949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50" b="0" i="0">
                <a:solidFill>
                  <a:srgbClr val="6B6470"/>
                </a:solidFill>
                <a:latin typeface="Helvetica"/>
              </a:rPr>
              <a:t>PRE, WhatsApp, marketing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822192"/>
            <a:ext cx="340553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46404" y="3945636"/>
            <a:ext cx="82296" cy="82296"/>
          </a:xfrm>
          <a:prstGeom prst="ellipse">
            <a:avLst/>
          </a:prstGeom>
          <a:solidFill>
            <a:srgbClr val="702070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" y="4114800"/>
            <a:ext cx="314949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14121A"/>
                </a:solidFill>
                <a:latin typeface="Helvetica"/>
              </a:rPr>
              <a:t>Operations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" y="4443984"/>
            <a:ext cx="314949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50" b="0" i="0">
                <a:solidFill>
                  <a:srgbClr val="6B6470"/>
                </a:solidFill>
                <a:latin typeface="Helvetica"/>
              </a:rPr>
              <a:t>Finance, inventory, lab, HR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93082" y="3822192"/>
            <a:ext cx="340553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516526" y="3945636"/>
            <a:ext cx="82296" cy="82296"/>
          </a:xfrm>
          <a:prstGeom prst="ellipse">
            <a:avLst/>
          </a:prstGeom>
          <a:solidFill>
            <a:srgbClr val="702070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1098" y="4114800"/>
            <a:ext cx="314949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14121A"/>
                </a:solidFill>
                <a:latin typeface="Helvetica"/>
              </a:rPr>
              <a:t>Insights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1098" y="4443984"/>
            <a:ext cx="314949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50" b="0" i="0">
                <a:solidFill>
                  <a:srgbClr val="6B6470"/>
                </a:solidFill>
                <a:latin typeface="Helvetica"/>
              </a:rPr>
              <a:t>Reports, analytics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63204" y="3822192"/>
            <a:ext cx="340553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86648" y="3945636"/>
            <a:ext cx="82296" cy="82296"/>
          </a:xfrm>
          <a:prstGeom prst="ellipse">
            <a:avLst/>
          </a:prstGeom>
          <a:solidFill>
            <a:srgbClr val="702070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91220" y="4114800"/>
            <a:ext cx="314949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14121A"/>
                </a:solidFill>
                <a:latin typeface="Helvetica"/>
              </a:rPr>
              <a:t>System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1220" y="4443984"/>
            <a:ext cx="314949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50" b="0" i="0">
                <a:solidFill>
                  <a:srgbClr val="6B6470"/>
                </a:solidFill>
                <a:latin typeface="Helvetica"/>
              </a:rPr>
              <a:t>Settings, consent, security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644652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spc="100">
                <a:solidFill>
                  <a:srgbClr val="6B6470"/>
                </a:solidFill>
                <a:latin typeface="Helvetica"/>
              </a:rPr>
              <a:t>DENTFLUENCE 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470"/>
                </a:solidFill>
                <a:latin typeface="Helvetica"/>
              </a:rPr>
              <a:t>07 / 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180">
                <a:solidFill>
                  <a:srgbClr val="702070"/>
                </a:solidFill>
                <a:latin typeface="Helvetica"/>
              </a:rPr>
              <a:t>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04672"/>
            <a:ext cx="105156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1" i="0">
                <a:solidFill>
                  <a:srgbClr val="14121A"/>
                </a:solidFill>
                <a:latin typeface="Helvetica"/>
              </a:rPr>
              <a:t>Clinical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38528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6B6470"/>
                </a:solidFill>
                <a:latin typeface="Helvetica"/>
              </a:rPr>
              <a:t>One patient. One continuous record.</a:t>
            </a:r>
          </a:p>
        </p:txBody>
      </p:sp>
      <p:sp>
        <p:nvSpPr>
          <p:cNvPr id="5" name="Oval 4"/>
          <p:cNvSpPr/>
          <p:nvPr/>
        </p:nvSpPr>
        <p:spPr>
          <a:xfrm>
            <a:off x="1445742" y="2990088"/>
            <a:ext cx="512064" cy="512064"/>
          </a:xfrm>
          <a:prstGeom prst="ellipse">
            <a:avLst/>
          </a:prstGeom>
          <a:solidFill>
            <a:srgbClr val="F4E8F4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5994" y="3575304"/>
            <a:ext cx="1051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6B6470"/>
                </a:solidFill>
                <a:latin typeface="Helvetica"/>
              </a:rPr>
              <a:t>Registration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57806.5833333335" y="3246120"/>
            <a:ext cx="1245565.1666666665" cy="0"/>
          </a:xfrm>
          <a:prstGeom prst="line">
            <a:avLst/>
          </a:prstGeom>
          <a:ln w="15875">
            <a:solidFill>
              <a:srgbClr val="702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3203371" y="2990088"/>
            <a:ext cx="512064" cy="512064"/>
          </a:xfrm>
          <a:prstGeom prst="ellipse">
            <a:avLst/>
          </a:prstGeom>
          <a:solidFill>
            <a:srgbClr val="F4E8F4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33623" y="3575304"/>
            <a:ext cx="1051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6B6470"/>
                </a:solidFill>
                <a:latin typeface="Helvetica"/>
              </a:rPr>
              <a:t>Appointment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715435.75" y="3246120"/>
            <a:ext cx="1245565.166666667" cy="0"/>
          </a:xfrm>
          <a:prstGeom prst="line">
            <a:avLst/>
          </a:prstGeom>
          <a:ln w="15875">
            <a:solidFill>
              <a:srgbClr val="702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4961000" y="2990088"/>
            <a:ext cx="512064" cy="512064"/>
          </a:xfrm>
          <a:prstGeom prst="ellipse">
            <a:avLst/>
          </a:prstGeom>
          <a:solidFill>
            <a:srgbClr val="F4E8F4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91252" y="3575304"/>
            <a:ext cx="1051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6B6470"/>
                </a:solidFill>
                <a:latin typeface="Helvetica"/>
              </a:rPr>
              <a:t>Consultation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73064.916666667" y="3246120"/>
            <a:ext cx="1245565.166666667" cy="0"/>
          </a:xfrm>
          <a:prstGeom prst="line">
            <a:avLst/>
          </a:prstGeom>
          <a:ln w="15875">
            <a:solidFill>
              <a:srgbClr val="702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6718630" y="2990088"/>
            <a:ext cx="512064" cy="512064"/>
          </a:xfrm>
          <a:prstGeom prst="ellipse">
            <a:avLst/>
          </a:prstGeom>
          <a:solidFill>
            <a:srgbClr val="F4E8F4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8882" y="3575304"/>
            <a:ext cx="1051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6B6470"/>
                </a:solidFill>
                <a:latin typeface="Helvetica"/>
              </a:rPr>
              <a:t>Tx Plan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230694.083333334" y="3246120"/>
            <a:ext cx="1245565.166666666" cy="0"/>
          </a:xfrm>
          <a:prstGeom prst="line">
            <a:avLst/>
          </a:prstGeom>
          <a:ln w="15875">
            <a:solidFill>
              <a:srgbClr val="702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8476259" y="2990088"/>
            <a:ext cx="512064" cy="512064"/>
          </a:xfrm>
          <a:prstGeom prst="ellipse">
            <a:avLst/>
          </a:prstGeom>
          <a:solidFill>
            <a:srgbClr val="F4E8F4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06511" y="3575304"/>
            <a:ext cx="1051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6B6470"/>
                </a:solidFill>
                <a:latin typeface="Helvetica"/>
              </a:rPr>
              <a:t>Tx Visit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988323.25" y="3246120"/>
            <a:ext cx="1245565.166666668" cy="0"/>
          </a:xfrm>
          <a:prstGeom prst="line">
            <a:avLst/>
          </a:prstGeom>
          <a:ln w="15875">
            <a:solidFill>
              <a:srgbClr val="702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10233888" y="2990088"/>
            <a:ext cx="512064" cy="512064"/>
          </a:xfrm>
          <a:prstGeom prst="ellipse">
            <a:avLst/>
          </a:prstGeom>
          <a:solidFill>
            <a:srgbClr val="F4E8F4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64140" y="3575304"/>
            <a:ext cx="1051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6B6470"/>
                </a:solidFill>
                <a:latin typeface="Helvetica"/>
              </a:rPr>
              <a:t>Rx</a:t>
            </a:r>
          </a:p>
        </p:txBody>
      </p:sp>
      <p:sp>
        <p:nvSpPr>
          <p:cNvPr id="22" name="Oval 21"/>
          <p:cNvSpPr/>
          <p:nvPr/>
        </p:nvSpPr>
        <p:spPr>
          <a:xfrm>
            <a:off x="1621505" y="3950208"/>
            <a:ext cx="512064" cy="512064"/>
          </a:xfrm>
          <a:prstGeom prst="ellipse">
            <a:avLst/>
          </a:prstGeom>
          <a:solidFill>
            <a:srgbClr val="F4E8F4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51757" y="4535424"/>
            <a:ext cx="1051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6B6470"/>
                </a:solidFill>
                <a:latin typeface="Helvetica"/>
              </a:rPr>
              <a:t>Billing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133569.5" y="4206240"/>
            <a:ext cx="1597091.0" cy="0"/>
          </a:xfrm>
          <a:prstGeom prst="line">
            <a:avLst/>
          </a:prstGeom>
          <a:ln w="15875">
            <a:solidFill>
              <a:srgbClr val="702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3730660" y="3950208"/>
            <a:ext cx="512064" cy="512064"/>
          </a:xfrm>
          <a:prstGeom prst="ellipse">
            <a:avLst/>
          </a:prstGeom>
          <a:solidFill>
            <a:srgbClr val="F4E8F4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60912" y="4535424"/>
            <a:ext cx="1051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6B6470"/>
                </a:solidFill>
                <a:latin typeface="Helvetica"/>
              </a:rPr>
              <a:t>Membership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242724.5" y="4206240"/>
            <a:ext cx="1597091.0" cy="0"/>
          </a:xfrm>
          <a:prstGeom prst="line">
            <a:avLst/>
          </a:prstGeom>
          <a:ln w="15875">
            <a:solidFill>
              <a:srgbClr val="702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5839815" y="3950208"/>
            <a:ext cx="512064" cy="512064"/>
          </a:xfrm>
          <a:prstGeom prst="ellipse">
            <a:avLst/>
          </a:prstGeom>
          <a:solidFill>
            <a:srgbClr val="F4E8F4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70067" y="4535424"/>
            <a:ext cx="1051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6B6470"/>
                </a:solidFill>
                <a:latin typeface="Helvetica"/>
              </a:rPr>
              <a:t>Wallet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351879.5" y="4206240"/>
            <a:ext cx="1597091.0" cy="0"/>
          </a:xfrm>
          <a:prstGeom prst="line">
            <a:avLst/>
          </a:prstGeom>
          <a:ln w="15875">
            <a:solidFill>
              <a:srgbClr val="702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7948970" y="3950208"/>
            <a:ext cx="512064" cy="512064"/>
          </a:xfrm>
          <a:prstGeom prst="ellipse">
            <a:avLst/>
          </a:prstGeom>
          <a:solidFill>
            <a:srgbClr val="F4E8F4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79222" y="4535424"/>
            <a:ext cx="1051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6B6470"/>
                </a:solidFill>
                <a:latin typeface="Helvetica"/>
              </a:rPr>
              <a:t>PRE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461034.5" y="4206240"/>
            <a:ext cx="1597091.0" cy="0"/>
          </a:xfrm>
          <a:prstGeom prst="line">
            <a:avLst/>
          </a:prstGeom>
          <a:ln w="15875">
            <a:solidFill>
              <a:srgbClr val="702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10058125" y="3950208"/>
            <a:ext cx="512064" cy="512064"/>
          </a:xfrm>
          <a:prstGeom prst="ellipse">
            <a:avLst/>
          </a:prstGeom>
          <a:solidFill>
            <a:srgbClr val="F4E8F4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88377" y="4535424"/>
            <a:ext cx="1051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6B6470"/>
                </a:solidFill>
                <a:latin typeface="Helvetica"/>
              </a:rPr>
              <a:t>Recall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644652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spc="100">
                <a:solidFill>
                  <a:srgbClr val="6B6470"/>
                </a:solidFill>
                <a:latin typeface="Helvetica"/>
              </a:rPr>
              <a:t>DENTFLUENCE OS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0704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470"/>
                </a:solidFill>
                <a:latin typeface="Helvetica"/>
              </a:rPr>
              <a:t>08 / 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180">
                <a:solidFill>
                  <a:srgbClr val="702070"/>
                </a:solidFill>
                <a:latin typeface="Helvetica"/>
              </a:rPr>
              <a:t>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04672"/>
            <a:ext cx="105156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1" i="0">
                <a:solidFill>
                  <a:srgbClr val="14121A"/>
                </a:solidFill>
                <a:latin typeface="Helvetica"/>
              </a:rPr>
              <a:t>Dentfluence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38528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6B6470"/>
                </a:solidFill>
                <a:latin typeface="Helvetica"/>
              </a:rPr>
              <a:t>Sixteen modules. One shared core.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606040"/>
            <a:ext cx="2512999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" y="2729484"/>
            <a:ext cx="82296" cy="82296"/>
          </a:xfrm>
          <a:prstGeom prst="ellipse">
            <a:avLst/>
          </a:prstGeom>
          <a:solidFill>
            <a:srgbClr val="702070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2898648"/>
            <a:ext cx="225696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14121A"/>
                </a:solidFill>
                <a:latin typeface="Helvetica"/>
              </a:rPr>
              <a:t>Patients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00551" y="2606040"/>
            <a:ext cx="2512999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623995" y="2729484"/>
            <a:ext cx="82296" cy="82296"/>
          </a:xfrm>
          <a:prstGeom prst="ellipse">
            <a:avLst/>
          </a:prstGeom>
          <a:solidFill>
            <a:srgbClr val="702070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28567" y="2898648"/>
            <a:ext cx="225696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14121A"/>
                </a:solidFill>
                <a:latin typeface="Helvetica"/>
              </a:rPr>
              <a:t>Appointments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8143" y="2606040"/>
            <a:ext cx="2512999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01587" y="2729484"/>
            <a:ext cx="82296" cy="82296"/>
          </a:xfrm>
          <a:prstGeom prst="ellipse">
            <a:avLst/>
          </a:prstGeom>
          <a:solidFill>
            <a:srgbClr val="702070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6159" y="2898648"/>
            <a:ext cx="225696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14121A"/>
                </a:solidFill>
                <a:latin typeface="Helvetica"/>
              </a:rPr>
              <a:t>Consultations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55735" y="2606040"/>
            <a:ext cx="2512999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979179" y="2729484"/>
            <a:ext cx="82296" cy="82296"/>
          </a:xfrm>
          <a:prstGeom prst="ellipse">
            <a:avLst/>
          </a:prstGeom>
          <a:solidFill>
            <a:srgbClr val="702070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83751" y="2898648"/>
            <a:ext cx="225696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14121A"/>
                </a:solidFill>
                <a:latin typeface="Helvetica"/>
              </a:rPr>
              <a:t>Tx Plans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547872"/>
            <a:ext cx="2512999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46404" y="3671316"/>
            <a:ext cx="82296" cy="82296"/>
          </a:xfrm>
          <a:prstGeom prst="ellipse">
            <a:avLst/>
          </a:prstGeom>
          <a:solidFill>
            <a:srgbClr val="702070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" y="3840480"/>
            <a:ext cx="225696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14121A"/>
                </a:solidFill>
                <a:latin typeface="Helvetica"/>
              </a:rPr>
              <a:t>Tx Visits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00551" y="3547872"/>
            <a:ext cx="2512999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23995" y="3671316"/>
            <a:ext cx="82296" cy="82296"/>
          </a:xfrm>
          <a:prstGeom prst="ellipse">
            <a:avLst/>
          </a:prstGeom>
          <a:solidFill>
            <a:srgbClr val="702070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28567" y="3840480"/>
            <a:ext cx="225696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14121A"/>
                </a:solidFill>
                <a:latin typeface="Helvetica"/>
              </a:rPr>
              <a:t>Prescriptions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8143" y="3547872"/>
            <a:ext cx="2512999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01587" y="3671316"/>
            <a:ext cx="82296" cy="82296"/>
          </a:xfrm>
          <a:prstGeom prst="ellipse">
            <a:avLst/>
          </a:prstGeom>
          <a:solidFill>
            <a:srgbClr val="702070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6159" y="3840480"/>
            <a:ext cx="225696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14121A"/>
                </a:solidFill>
                <a:latin typeface="Helvetica"/>
              </a:rPr>
              <a:t>Billing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55735" y="3547872"/>
            <a:ext cx="2512999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979179" y="3671316"/>
            <a:ext cx="82296" cy="82296"/>
          </a:xfrm>
          <a:prstGeom prst="ellipse">
            <a:avLst/>
          </a:prstGeom>
          <a:solidFill>
            <a:srgbClr val="702070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83751" y="3840480"/>
            <a:ext cx="225696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14121A"/>
                </a:solidFill>
                <a:latin typeface="Helvetica"/>
              </a:rPr>
              <a:t>Wallet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4489704"/>
            <a:ext cx="2512999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46404" y="4613148"/>
            <a:ext cx="82296" cy="82296"/>
          </a:xfrm>
          <a:prstGeom prst="ellipse">
            <a:avLst/>
          </a:prstGeom>
          <a:solidFill>
            <a:srgbClr val="702070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0976" y="4782312"/>
            <a:ext cx="225696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14121A"/>
                </a:solidFill>
                <a:latin typeface="Helvetica"/>
              </a:rPr>
              <a:t>Membership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500551" y="4489704"/>
            <a:ext cx="2512999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623995" y="4613148"/>
            <a:ext cx="82296" cy="82296"/>
          </a:xfrm>
          <a:prstGeom prst="ellipse">
            <a:avLst/>
          </a:prstGeom>
          <a:solidFill>
            <a:srgbClr val="702070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28567" y="4782312"/>
            <a:ext cx="225696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14121A"/>
                </a:solidFill>
                <a:latin typeface="Helvetica"/>
              </a:rPr>
              <a:t>Relationships (PRE)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78143" y="4489704"/>
            <a:ext cx="2512999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301587" y="4613148"/>
            <a:ext cx="82296" cy="82296"/>
          </a:xfrm>
          <a:prstGeom prst="ellipse">
            <a:avLst/>
          </a:prstGeom>
          <a:solidFill>
            <a:srgbClr val="702070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6159" y="4782312"/>
            <a:ext cx="225696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14121A"/>
                </a:solidFill>
                <a:latin typeface="Helvetica"/>
              </a:rPr>
              <a:t>Clinical Library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55735" y="4489704"/>
            <a:ext cx="2512999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979179" y="4613148"/>
            <a:ext cx="82296" cy="82296"/>
          </a:xfrm>
          <a:prstGeom prst="ellipse">
            <a:avLst/>
          </a:prstGeom>
          <a:solidFill>
            <a:srgbClr val="702070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83751" y="4782312"/>
            <a:ext cx="225696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14121A"/>
                </a:solidFill>
                <a:latin typeface="Helvetica"/>
              </a:rPr>
              <a:t>Inventory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2960" y="5431536"/>
            <a:ext cx="2512999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46404" y="5554980"/>
            <a:ext cx="82296" cy="82296"/>
          </a:xfrm>
          <a:prstGeom prst="ellipse">
            <a:avLst/>
          </a:prstGeom>
          <a:solidFill>
            <a:srgbClr val="702070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0976" y="5724144"/>
            <a:ext cx="225696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14121A"/>
                </a:solidFill>
                <a:latin typeface="Helvetica"/>
              </a:rPr>
              <a:t>Lab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500551" y="5431536"/>
            <a:ext cx="2512999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3623995" y="5554980"/>
            <a:ext cx="82296" cy="82296"/>
          </a:xfrm>
          <a:prstGeom prst="ellipse">
            <a:avLst/>
          </a:prstGeom>
          <a:solidFill>
            <a:srgbClr val="702070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28567" y="5724144"/>
            <a:ext cx="225696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14121A"/>
                </a:solidFill>
                <a:latin typeface="Helvetica"/>
              </a:rPr>
              <a:t>Accounts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178143" y="5431536"/>
            <a:ext cx="2512999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301587" y="5554980"/>
            <a:ext cx="82296" cy="82296"/>
          </a:xfrm>
          <a:prstGeom prst="ellipse">
            <a:avLst/>
          </a:prstGeom>
          <a:solidFill>
            <a:srgbClr val="702070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06159" y="5724144"/>
            <a:ext cx="225696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14121A"/>
                </a:solidFill>
                <a:latin typeface="Helvetica"/>
              </a:rPr>
              <a:t>Reports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855735" y="5431536"/>
            <a:ext cx="2512999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979179" y="5554980"/>
            <a:ext cx="82296" cy="82296"/>
          </a:xfrm>
          <a:prstGeom prst="ellipse">
            <a:avLst/>
          </a:prstGeom>
          <a:solidFill>
            <a:srgbClr val="702070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983751" y="5724144"/>
            <a:ext cx="225696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14121A"/>
                </a:solidFill>
                <a:latin typeface="Helvetica"/>
              </a:rPr>
              <a:t>Settings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2960" y="644652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spc="100">
                <a:solidFill>
                  <a:srgbClr val="6B6470"/>
                </a:solidFill>
                <a:latin typeface="Helvetica"/>
              </a:rPr>
              <a:t>DENTFLUENCE OS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60704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470"/>
                </a:solidFill>
                <a:latin typeface="Helvetica"/>
              </a:rPr>
              <a:t>09 / 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180">
                <a:solidFill>
                  <a:srgbClr val="702070"/>
                </a:solidFill>
                <a:latin typeface="Helvetica"/>
              </a:rPr>
              <a:t>PATIENT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04672"/>
            <a:ext cx="105156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1" i="0">
                <a:solidFill>
                  <a:srgbClr val="14121A"/>
                </a:solidFill>
                <a:latin typeface="Helvetica"/>
              </a:rPr>
              <a:t>The Patient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38528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6B6470"/>
                </a:solidFill>
                <a:latin typeface="Helvetica"/>
              </a:rPr>
              <a:t>What the patient actually experiences</a:t>
            </a:r>
          </a:p>
        </p:txBody>
      </p:sp>
      <p:sp>
        <p:nvSpPr>
          <p:cNvPr id="5" name="Oval 4"/>
          <p:cNvSpPr/>
          <p:nvPr/>
        </p:nvSpPr>
        <p:spPr>
          <a:xfrm>
            <a:off x="1320197" y="2990088"/>
            <a:ext cx="512064" cy="512064"/>
          </a:xfrm>
          <a:prstGeom prst="ellipse">
            <a:avLst/>
          </a:prstGeom>
          <a:solidFill>
            <a:srgbClr val="F4E8F4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0449" y="3575304"/>
            <a:ext cx="1051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6B6470"/>
                </a:solidFill>
                <a:latin typeface="Helvetica"/>
              </a:rPr>
              <a:t>Walks in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832261.6428571427" y="3246120"/>
            <a:ext cx="994475.2857142854" cy="0"/>
          </a:xfrm>
          <a:prstGeom prst="line">
            <a:avLst/>
          </a:prstGeom>
          <a:ln w="15875">
            <a:solidFill>
              <a:srgbClr val="702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2826736" y="2990088"/>
            <a:ext cx="512064" cy="512064"/>
          </a:xfrm>
          <a:prstGeom prst="ellipse">
            <a:avLst/>
          </a:prstGeom>
          <a:solidFill>
            <a:srgbClr val="F4E8F4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56988" y="3575304"/>
            <a:ext cx="1051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6B6470"/>
                </a:solidFill>
                <a:latin typeface="Helvetica"/>
              </a:rPr>
              <a:t>Registered once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338800.928571428" y="3246120"/>
            <a:ext cx="994475.2857142864" cy="0"/>
          </a:xfrm>
          <a:prstGeom prst="line">
            <a:avLst/>
          </a:prstGeom>
          <a:ln w="15875">
            <a:solidFill>
              <a:srgbClr val="702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4333276" y="2990088"/>
            <a:ext cx="512064" cy="512064"/>
          </a:xfrm>
          <a:prstGeom prst="ellipse">
            <a:avLst/>
          </a:prstGeom>
          <a:solidFill>
            <a:srgbClr val="F4E8F4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63528" y="3575304"/>
            <a:ext cx="1051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6B6470"/>
                </a:solidFill>
                <a:latin typeface="Helvetica"/>
              </a:rPr>
              <a:t>Seen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845340.214285715" y="3246120"/>
            <a:ext cx="994475.2857142854" cy="0"/>
          </a:xfrm>
          <a:prstGeom prst="line">
            <a:avLst/>
          </a:prstGeom>
          <a:ln w="15875">
            <a:solidFill>
              <a:srgbClr val="702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5839815" y="2990088"/>
            <a:ext cx="512064" cy="512064"/>
          </a:xfrm>
          <a:prstGeom prst="ellipse">
            <a:avLst/>
          </a:prstGeom>
          <a:solidFill>
            <a:srgbClr val="F4E8F4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70067" y="3575304"/>
            <a:ext cx="1051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6B6470"/>
                </a:solidFill>
                <a:latin typeface="Helvetica"/>
              </a:rPr>
              <a:t>Treated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351879.5" y="3246120"/>
            <a:ext cx="994475.2857142854" cy="0"/>
          </a:xfrm>
          <a:prstGeom prst="line">
            <a:avLst/>
          </a:prstGeom>
          <a:ln w="15875">
            <a:solidFill>
              <a:srgbClr val="702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7346354" y="2990088"/>
            <a:ext cx="512064" cy="512064"/>
          </a:xfrm>
          <a:prstGeom prst="ellipse">
            <a:avLst/>
          </a:prstGeom>
          <a:solidFill>
            <a:srgbClr val="F4E8F4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76606" y="3575304"/>
            <a:ext cx="1051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6B6470"/>
                </a:solidFill>
                <a:latin typeface="Helvetica"/>
              </a:rPr>
              <a:t>Billed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858418.785714285" y="3246120"/>
            <a:ext cx="994475.2857142854" cy="0"/>
          </a:xfrm>
          <a:prstGeom prst="line">
            <a:avLst/>
          </a:prstGeom>
          <a:ln w="15875">
            <a:solidFill>
              <a:srgbClr val="702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8852894" y="2990088"/>
            <a:ext cx="512064" cy="512064"/>
          </a:xfrm>
          <a:prstGeom prst="ellipse">
            <a:avLst/>
          </a:prstGeom>
          <a:solidFill>
            <a:srgbClr val="F4E8F4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83146" y="3575304"/>
            <a:ext cx="1051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6B6470"/>
                </a:solidFill>
                <a:latin typeface="Helvetica"/>
              </a:rPr>
              <a:t>Reminded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364958.07142857" y="3246120"/>
            <a:ext cx="994475.2857142873" cy="0"/>
          </a:xfrm>
          <a:prstGeom prst="line">
            <a:avLst/>
          </a:prstGeom>
          <a:ln w="15875">
            <a:solidFill>
              <a:srgbClr val="702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10359433" y="2990088"/>
            <a:ext cx="512064" cy="512064"/>
          </a:xfrm>
          <a:prstGeom prst="ellipse">
            <a:avLst/>
          </a:prstGeom>
          <a:solidFill>
            <a:srgbClr val="F4E8F4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89685" y="3575304"/>
            <a:ext cx="1051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6B6470"/>
                </a:solidFill>
                <a:latin typeface="Helvetica"/>
              </a:rPr>
              <a:t>Returns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644652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spc="100">
                <a:solidFill>
                  <a:srgbClr val="6B6470"/>
                </a:solidFill>
                <a:latin typeface="Helvetica"/>
              </a:rPr>
              <a:t>DENTFLUENCE 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470"/>
                </a:solidFill>
                <a:latin typeface="Helvetica"/>
              </a:rPr>
              <a:t>10 / 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180">
                <a:solidFill>
                  <a:srgbClr val="702070"/>
                </a:solidFill>
                <a:latin typeface="Helvetica"/>
              </a:rPr>
              <a:t>TEAM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04672"/>
            <a:ext cx="105156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1" i="0">
                <a:solidFill>
                  <a:srgbClr val="14121A"/>
                </a:solidFill>
                <a:latin typeface="Helvetica"/>
              </a:rPr>
              <a:t>Dentist &amp; Team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38528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6B6470"/>
                </a:solidFill>
                <a:latin typeface="Helvetica"/>
              </a:rPr>
              <a:t>One OS. Every role.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606040"/>
            <a:ext cx="1977481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" y="2729484"/>
            <a:ext cx="82296" cy="82296"/>
          </a:xfrm>
          <a:prstGeom prst="ellipse">
            <a:avLst/>
          </a:prstGeom>
          <a:solidFill>
            <a:srgbClr val="702070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2898648"/>
            <a:ext cx="172144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14121A"/>
                </a:solidFill>
                <a:latin typeface="Helvetica"/>
              </a:rPr>
              <a:t>Reception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65033" y="2606040"/>
            <a:ext cx="1977481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088477" y="2729484"/>
            <a:ext cx="82296" cy="82296"/>
          </a:xfrm>
          <a:prstGeom prst="ellipse">
            <a:avLst/>
          </a:prstGeom>
          <a:solidFill>
            <a:srgbClr val="702070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93049" y="2898648"/>
            <a:ext cx="172144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14121A"/>
                </a:solidFill>
                <a:latin typeface="Helvetica"/>
              </a:rPr>
              <a:t>Assistant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07106" y="2606040"/>
            <a:ext cx="1977481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230550" y="2729484"/>
            <a:ext cx="82296" cy="82296"/>
          </a:xfrm>
          <a:prstGeom prst="ellipse">
            <a:avLst/>
          </a:prstGeom>
          <a:solidFill>
            <a:srgbClr val="702070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35122" y="2898648"/>
            <a:ext cx="172144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14121A"/>
                </a:solidFill>
                <a:latin typeface="Helvetica"/>
              </a:rPr>
              <a:t>Doctor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49180" y="2606040"/>
            <a:ext cx="1977481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72624" y="2729484"/>
            <a:ext cx="82296" cy="82296"/>
          </a:xfrm>
          <a:prstGeom prst="ellipse">
            <a:avLst/>
          </a:prstGeom>
          <a:solidFill>
            <a:srgbClr val="702070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77196" y="2898648"/>
            <a:ext cx="172144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14121A"/>
                </a:solidFill>
                <a:latin typeface="Helvetica"/>
              </a:rPr>
              <a:t>Manager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91253" y="2606040"/>
            <a:ext cx="1977481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514697" y="2729484"/>
            <a:ext cx="82296" cy="82296"/>
          </a:xfrm>
          <a:prstGeom prst="ellipse">
            <a:avLst/>
          </a:prstGeom>
          <a:solidFill>
            <a:srgbClr val="702070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19269" y="2898648"/>
            <a:ext cx="172144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14121A"/>
                </a:solidFill>
                <a:latin typeface="Helvetica"/>
              </a:rPr>
              <a:t>Owner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44652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spc="100">
                <a:solidFill>
                  <a:srgbClr val="6B6470"/>
                </a:solidFill>
                <a:latin typeface="Helvetica"/>
              </a:rPr>
              <a:t>DENTFLUENCE 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470"/>
                </a:solidFill>
                <a:latin typeface="Helvetica"/>
              </a:rPr>
              <a:t>11 / 25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180">
                <a:solidFill>
                  <a:srgbClr val="702070"/>
                </a:solidFill>
                <a:latin typeface="Helvetica"/>
              </a:rPr>
              <a:t>BUSINESS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04672"/>
            <a:ext cx="105156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1" i="0">
                <a:solidFill>
                  <a:srgbClr val="14121A"/>
                </a:solidFill>
                <a:latin typeface="Helvetica"/>
              </a:rPr>
              <a:t>The Business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38528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6B6470"/>
                </a:solidFill>
                <a:latin typeface="Helvetica"/>
              </a:rPr>
              <a:t>From lead to loyalty</a:t>
            </a:r>
          </a:p>
        </p:txBody>
      </p:sp>
      <p:sp>
        <p:nvSpPr>
          <p:cNvPr id="5" name="Oval 4"/>
          <p:cNvSpPr/>
          <p:nvPr/>
        </p:nvSpPr>
        <p:spPr>
          <a:xfrm>
            <a:off x="1885149" y="2990088"/>
            <a:ext cx="512064" cy="512064"/>
          </a:xfrm>
          <a:prstGeom prst="ellipse">
            <a:avLst/>
          </a:prstGeom>
          <a:solidFill>
            <a:srgbClr val="F4E8F4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15401" y="3575304"/>
            <a:ext cx="1051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6B6470"/>
                </a:solidFill>
                <a:latin typeface="Helvetica"/>
              </a:rPr>
              <a:t>Lead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397213.875" y="3246120"/>
            <a:ext cx="2124379.75" cy="0"/>
          </a:xfrm>
          <a:prstGeom prst="line">
            <a:avLst/>
          </a:prstGeom>
          <a:ln w="15875">
            <a:solidFill>
              <a:srgbClr val="702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4521593" y="2990088"/>
            <a:ext cx="512064" cy="512064"/>
          </a:xfrm>
          <a:prstGeom prst="ellipse">
            <a:avLst/>
          </a:prstGeom>
          <a:solidFill>
            <a:srgbClr val="F4E8F4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1845" y="3575304"/>
            <a:ext cx="1051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6B6470"/>
                </a:solidFill>
                <a:latin typeface="Helvetica"/>
              </a:rPr>
              <a:t>Consultation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33657.625" y="3246120"/>
            <a:ext cx="2124379.75" cy="0"/>
          </a:xfrm>
          <a:prstGeom prst="line">
            <a:avLst/>
          </a:prstGeom>
          <a:ln w="15875">
            <a:solidFill>
              <a:srgbClr val="702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7158037" y="2990088"/>
            <a:ext cx="512064" cy="512064"/>
          </a:xfrm>
          <a:prstGeom prst="ellipse">
            <a:avLst/>
          </a:prstGeom>
          <a:solidFill>
            <a:srgbClr val="F4E8F4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88289" y="3575304"/>
            <a:ext cx="1051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6B6470"/>
                </a:solidFill>
                <a:latin typeface="Helvetica"/>
              </a:rPr>
              <a:t>Acceptance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670101.375" y="3246120"/>
            <a:ext cx="2124379.75" cy="0"/>
          </a:xfrm>
          <a:prstGeom prst="line">
            <a:avLst/>
          </a:prstGeom>
          <a:ln w="15875">
            <a:solidFill>
              <a:srgbClr val="702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9794481" y="2990088"/>
            <a:ext cx="512064" cy="512064"/>
          </a:xfrm>
          <a:prstGeom prst="ellipse">
            <a:avLst/>
          </a:prstGeom>
          <a:solidFill>
            <a:srgbClr val="F4E8F4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24733" y="3575304"/>
            <a:ext cx="1051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6B6470"/>
                </a:solidFill>
                <a:latin typeface="Helvetica"/>
              </a:rPr>
              <a:t>Treatment</a:t>
            </a:r>
          </a:p>
        </p:txBody>
      </p:sp>
      <p:sp>
        <p:nvSpPr>
          <p:cNvPr id="16" name="Oval 15"/>
          <p:cNvSpPr/>
          <p:nvPr/>
        </p:nvSpPr>
        <p:spPr>
          <a:xfrm>
            <a:off x="1885149" y="3950208"/>
            <a:ext cx="512064" cy="512064"/>
          </a:xfrm>
          <a:prstGeom prst="ellipse">
            <a:avLst/>
          </a:prstGeom>
          <a:solidFill>
            <a:srgbClr val="F4E8F4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15401" y="4535424"/>
            <a:ext cx="1051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6B6470"/>
                </a:solidFill>
                <a:latin typeface="Helvetica"/>
              </a:rPr>
              <a:t>Billing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397213.875" y="4206240"/>
            <a:ext cx="2124379.75" cy="0"/>
          </a:xfrm>
          <a:prstGeom prst="line">
            <a:avLst/>
          </a:prstGeom>
          <a:ln w="15875">
            <a:solidFill>
              <a:srgbClr val="702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4521593" y="3950208"/>
            <a:ext cx="512064" cy="512064"/>
          </a:xfrm>
          <a:prstGeom prst="ellipse">
            <a:avLst/>
          </a:prstGeom>
          <a:solidFill>
            <a:srgbClr val="F4E8F4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51845" y="4535424"/>
            <a:ext cx="1051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6B6470"/>
                </a:solidFill>
                <a:latin typeface="Helvetica"/>
              </a:rPr>
              <a:t>Follow-up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033657.625" y="4206240"/>
            <a:ext cx="2124379.75" cy="0"/>
          </a:xfrm>
          <a:prstGeom prst="line">
            <a:avLst/>
          </a:prstGeom>
          <a:ln w="15875">
            <a:solidFill>
              <a:srgbClr val="702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7158037" y="3950208"/>
            <a:ext cx="512064" cy="512064"/>
          </a:xfrm>
          <a:prstGeom prst="ellipse">
            <a:avLst/>
          </a:prstGeom>
          <a:solidFill>
            <a:srgbClr val="F4E8F4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88289" y="4535424"/>
            <a:ext cx="1051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6B6470"/>
                </a:solidFill>
                <a:latin typeface="Helvetica"/>
              </a:rPr>
              <a:t>Recall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70101.375" y="4206240"/>
            <a:ext cx="2124379.75" cy="0"/>
          </a:xfrm>
          <a:prstGeom prst="line">
            <a:avLst/>
          </a:prstGeom>
          <a:ln w="15875">
            <a:solidFill>
              <a:srgbClr val="E8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9794481" y="3950208"/>
            <a:ext cx="512064" cy="512064"/>
          </a:xfrm>
          <a:prstGeom prst="ellipse">
            <a:avLst/>
          </a:prstGeom>
          <a:solidFill>
            <a:srgbClr val="702070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900" b="1">
                <a:solidFill>
                  <a:srgbClr val="FFFFFF"/>
                </a:solidFill>
              </a:rPr>
              <a:t>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24733" y="4535424"/>
            <a:ext cx="1051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6B6470"/>
                </a:solidFill>
                <a:latin typeface="Helvetica"/>
              </a:rPr>
              <a:t>Loyal Patient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644652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spc="100">
                <a:solidFill>
                  <a:srgbClr val="6B6470"/>
                </a:solidFill>
                <a:latin typeface="Helvetica"/>
              </a:rPr>
              <a:t>DENTFLUENCE 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470"/>
                </a:solidFill>
                <a:latin typeface="Helvetica"/>
              </a:rPr>
              <a:t>12 / 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180">
                <a:solidFill>
                  <a:srgbClr val="702070"/>
                </a:solidFill>
                <a:latin typeface="Helvetica"/>
              </a:rPr>
              <a:t>RELATIONSHIP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04672"/>
            <a:ext cx="105156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1" i="0">
                <a:solidFill>
                  <a:srgbClr val="14121A"/>
                </a:solidFill>
                <a:latin typeface="Helvetica"/>
              </a:rPr>
              <a:t>No Separate CRM Required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38528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6B6470"/>
                </a:solidFill>
                <a:latin typeface="Helvetica"/>
              </a:rPr>
              <a:t>The CRM is already inside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606040"/>
            <a:ext cx="5190591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" y="2729484"/>
            <a:ext cx="82296" cy="82296"/>
          </a:xfrm>
          <a:prstGeom prst="ellipse">
            <a:avLst/>
          </a:prstGeom>
          <a:solidFill>
            <a:srgbClr val="702070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2898648"/>
            <a:ext cx="493455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14121A"/>
                </a:solidFill>
                <a:latin typeface="Helvetica"/>
              </a:rPr>
              <a:t>Patient Relationship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3227832"/>
            <a:ext cx="493455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50" b="0" i="0">
                <a:solidFill>
                  <a:srgbClr val="6B6470"/>
                </a:solidFill>
                <a:latin typeface="Helvetica"/>
              </a:rPr>
              <a:t>Core PRE — one relationship per patient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8143" y="2606040"/>
            <a:ext cx="5190591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01587" y="2729484"/>
            <a:ext cx="82296" cy="82296"/>
          </a:xfrm>
          <a:prstGeom prst="ellipse">
            <a:avLst/>
          </a:prstGeom>
          <a:solidFill>
            <a:srgbClr val="702070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6159" y="2898648"/>
            <a:ext cx="493455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14121A"/>
                </a:solidFill>
                <a:latin typeface="Helvetica"/>
              </a:rPr>
              <a:t>Opportunity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6159" y="3227832"/>
            <a:ext cx="493455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50" b="0" i="0">
                <a:solidFill>
                  <a:srgbClr val="6B6470"/>
                </a:solidFill>
                <a:latin typeface="Helvetica"/>
              </a:rPr>
              <a:t>Unaccepted plans become tracked opportunities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822192"/>
            <a:ext cx="5190591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46404" y="3945636"/>
            <a:ext cx="82296" cy="82296"/>
          </a:xfrm>
          <a:prstGeom prst="ellipse">
            <a:avLst/>
          </a:prstGeom>
          <a:solidFill>
            <a:srgbClr val="702070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" y="4114800"/>
            <a:ext cx="493455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14121A"/>
                </a:solidFill>
                <a:latin typeface="Helvetica"/>
              </a:rPr>
              <a:t>Recall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4443984"/>
            <a:ext cx="493455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50" b="0" i="0">
                <a:solidFill>
                  <a:srgbClr val="6B6470"/>
                </a:solidFill>
                <a:latin typeface="Helvetica"/>
              </a:rPr>
              <a:t>Automated, ethical recall scheduling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8143" y="3822192"/>
            <a:ext cx="5190591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01587" y="3945636"/>
            <a:ext cx="82296" cy="82296"/>
          </a:xfrm>
          <a:prstGeom prst="ellipse">
            <a:avLst/>
          </a:prstGeom>
          <a:solidFill>
            <a:srgbClr val="702070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6159" y="4114800"/>
            <a:ext cx="493455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14121A"/>
                </a:solidFill>
                <a:latin typeface="Helvetica"/>
              </a:rPr>
              <a:t>Communication 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6159" y="4443984"/>
            <a:ext cx="493455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50" b="0" i="0">
                <a:solidFill>
                  <a:srgbClr val="6B6470"/>
                </a:solidFill>
                <a:latin typeface="Helvetica"/>
              </a:rPr>
              <a:t>WhatsApp, SMS, email — one queue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44652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spc="100">
                <a:solidFill>
                  <a:srgbClr val="6B6470"/>
                </a:solidFill>
                <a:latin typeface="Helvetica"/>
              </a:rPr>
              <a:t>DENTFLUENCE 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470"/>
                </a:solidFill>
                <a:latin typeface="Helvetica"/>
              </a:rPr>
              <a:t>13 / 25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180">
                <a:solidFill>
                  <a:srgbClr val="702070"/>
                </a:solidFill>
                <a:latin typeface="Helvetica"/>
              </a:rPr>
              <a:t>ACCOUNTABILITY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04672"/>
            <a:ext cx="105156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1" i="0">
                <a:solidFill>
                  <a:srgbClr val="14121A"/>
                </a:solidFill>
                <a:latin typeface="Helvetica"/>
              </a:rPr>
              <a:t>Staff Accountability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38528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6B6470"/>
                </a:solidFill>
                <a:latin typeface="Helvetica"/>
              </a:rPr>
              <a:t>Every action has an owner</a:t>
            </a:r>
          </a:p>
        </p:txBody>
      </p:sp>
      <p:sp>
        <p:nvSpPr>
          <p:cNvPr id="5" name="Oval 4"/>
          <p:cNvSpPr/>
          <p:nvPr/>
        </p:nvSpPr>
        <p:spPr>
          <a:xfrm>
            <a:off x="1885149" y="2990088"/>
            <a:ext cx="512064" cy="512064"/>
          </a:xfrm>
          <a:prstGeom prst="ellipse">
            <a:avLst/>
          </a:prstGeom>
          <a:solidFill>
            <a:srgbClr val="F4E8F4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15401" y="3575304"/>
            <a:ext cx="1051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6B6470"/>
                </a:solidFill>
                <a:latin typeface="Helvetica"/>
              </a:rPr>
              <a:t>Owner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397213.875" y="3246120"/>
            <a:ext cx="2124379.75" cy="0"/>
          </a:xfrm>
          <a:prstGeom prst="line">
            <a:avLst/>
          </a:prstGeom>
          <a:ln w="15875">
            <a:solidFill>
              <a:srgbClr val="702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4521593" y="2990088"/>
            <a:ext cx="512064" cy="512064"/>
          </a:xfrm>
          <a:prstGeom prst="ellipse">
            <a:avLst/>
          </a:prstGeom>
          <a:solidFill>
            <a:srgbClr val="F4E8F4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1845" y="3575304"/>
            <a:ext cx="1051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6B6470"/>
                </a:solidFill>
                <a:latin typeface="Helvetica"/>
              </a:rPr>
              <a:t>Timestamp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33657.625" y="3246120"/>
            <a:ext cx="2124379.75" cy="0"/>
          </a:xfrm>
          <a:prstGeom prst="line">
            <a:avLst/>
          </a:prstGeom>
          <a:ln w="15875">
            <a:solidFill>
              <a:srgbClr val="702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7158037" y="2990088"/>
            <a:ext cx="512064" cy="512064"/>
          </a:xfrm>
          <a:prstGeom prst="ellipse">
            <a:avLst/>
          </a:prstGeom>
          <a:solidFill>
            <a:srgbClr val="F4E8F4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88289" y="3575304"/>
            <a:ext cx="1051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6B6470"/>
                </a:solidFill>
                <a:latin typeface="Helvetica"/>
              </a:rPr>
              <a:t>Status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670101.375" y="3246120"/>
            <a:ext cx="2124379.75" cy="0"/>
          </a:xfrm>
          <a:prstGeom prst="line">
            <a:avLst/>
          </a:prstGeom>
          <a:ln w="15875">
            <a:solidFill>
              <a:srgbClr val="702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9794481" y="2990088"/>
            <a:ext cx="512064" cy="512064"/>
          </a:xfrm>
          <a:prstGeom prst="ellipse">
            <a:avLst/>
          </a:prstGeom>
          <a:solidFill>
            <a:srgbClr val="F4E8F4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24733" y="3575304"/>
            <a:ext cx="1051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6B6470"/>
                </a:solidFill>
                <a:latin typeface="Helvetica"/>
              </a:rPr>
              <a:t>Audit Trail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spc="100">
                <a:solidFill>
                  <a:srgbClr val="6B6470"/>
                </a:solidFill>
                <a:latin typeface="Helvetica"/>
              </a:rPr>
              <a:t>DENTFLUENCE 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470"/>
                </a:solidFill>
                <a:latin typeface="Helvetica"/>
              </a:rPr>
              <a:t>14 / 25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180">
                <a:solidFill>
                  <a:srgbClr val="702070"/>
                </a:solidFill>
                <a:latin typeface="Helvetica"/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04672"/>
            <a:ext cx="105156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1" i="0">
                <a:solidFill>
                  <a:srgbClr val="14121A"/>
                </a:solidFill>
                <a:latin typeface="Helvetica"/>
              </a:rPr>
              <a:t>Compliance Ready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38528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6B6470"/>
                </a:solidFill>
                <a:latin typeface="Helvetica"/>
              </a:rPr>
              <a:t>Built for what's coming, not just what's required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606040"/>
            <a:ext cx="340553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" y="2729484"/>
            <a:ext cx="82296" cy="82296"/>
          </a:xfrm>
          <a:prstGeom prst="ellipse">
            <a:avLst/>
          </a:prstGeom>
          <a:solidFill>
            <a:srgbClr val="702070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2898648"/>
            <a:ext cx="314949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14121A"/>
                </a:solidFill>
                <a:latin typeface="Helvetica"/>
              </a:rPr>
              <a:t>ABHA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93082" y="2606040"/>
            <a:ext cx="340553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16526" y="2729484"/>
            <a:ext cx="82296" cy="82296"/>
          </a:xfrm>
          <a:prstGeom prst="ellipse">
            <a:avLst/>
          </a:prstGeom>
          <a:solidFill>
            <a:srgbClr val="702070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1098" y="2898648"/>
            <a:ext cx="314949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14121A"/>
                </a:solidFill>
                <a:latin typeface="Helvetica"/>
              </a:rPr>
              <a:t>DPDP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63204" y="2606040"/>
            <a:ext cx="340553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086648" y="2729484"/>
            <a:ext cx="82296" cy="82296"/>
          </a:xfrm>
          <a:prstGeom prst="ellipse">
            <a:avLst/>
          </a:prstGeom>
          <a:solidFill>
            <a:srgbClr val="702070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1220" y="2898648"/>
            <a:ext cx="314949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14121A"/>
                </a:solidFill>
                <a:latin typeface="Helvetica"/>
              </a:rPr>
              <a:t>Consent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822192"/>
            <a:ext cx="340553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6404" y="3945636"/>
            <a:ext cx="82296" cy="82296"/>
          </a:xfrm>
          <a:prstGeom prst="ellipse">
            <a:avLst/>
          </a:prstGeom>
          <a:solidFill>
            <a:srgbClr val="702070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" y="4114800"/>
            <a:ext cx="314949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14121A"/>
                </a:solidFill>
                <a:latin typeface="Helvetica"/>
              </a:rPr>
              <a:t>Patient Rights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93082" y="3822192"/>
            <a:ext cx="340553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16526" y="3945636"/>
            <a:ext cx="82296" cy="82296"/>
          </a:xfrm>
          <a:prstGeom prst="ellipse">
            <a:avLst/>
          </a:prstGeom>
          <a:solidFill>
            <a:srgbClr val="702070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1098" y="4114800"/>
            <a:ext cx="314949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14121A"/>
                </a:solidFill>
                <a:latin typeface="Helvetica"/>
              </a:rPr>
              <a:t>Audit Logs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63204" y="3822192"/>
            <a:ext cx="340553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086648" y="3945636"/>
            <a:ext cx="82296" cy="82296"/>
          </a:xfrm>
          <a:prstGeom prst="ellipse">
            <a:avLst/>
          </a:prstGeom>
          <a:solidFill>
            <a:srgbClr val="702070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91220" y="4114800"/>
            <a:ext cx="314949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14121A"/>
                </a:solidFill>
                <a:latin typeface="Helvetica"/>
              </a:rPr>
              <a:t>Data Retention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44652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spc="100">
                <a:solidFill>
                  <a:srgbClr val="6B6470"/>
                </a:solidFill>
                <a:latin typeface="Helvetica"/>
              </a:rPr>
              <a:t>DENTFLUENCE 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470"/>
                </a:solidFill>
                <a:latin typeface="Helvetica"/>
              </a:rPr>
              <a:t>15 / 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180">
                <a:solidFill>
                  <a:srgbClr val="702070"/>
                </a:solidFill>
                <a:latin typeface="Helvetica"/>
              </a:rPr>
              <a:t>GROWTH, DIFFERENTLY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04672"/>
            <a:ext cx="105156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1" i="0">
                <a:solidFill>
                  <a:srgbClr val="14121A"/>
                </a:solidFill>
                <a:latin typeface="Helvetica"/>
              </a:rPr>
              <a:t>Ethical Growth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38528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6B6470"/>
                </a:solidFill>
                <a:latin typeface="Helvetica"/>
              </a:rPr>
              <a:t>Growth without manipulation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606040"/>
            <a:ext cx="502920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78892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00">
                <a:solidFill>
                  <a:srgbClr val="6B6470"/>
                </a:solidFill>
                <a:latin typeface="Helvetica"/>
              </a:rPr>
              <a:t>WE DON'T DO THIS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29184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702070"/>
                </a:solidFill>
                <a:latin typeface="Helvetica"/>
              </a:rPr>
              <a:t>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4752" y="3291840"/>
            <a:ext cx="4160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4121A"/>
                </a:solidFill>
                <a:latin typeface="Helvetica"/>
              </a:rPr>
              <a:t>Manipulative messaging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730752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702070"/>
                </a:solidFill>
                <a:latin typeface="Helvetica"/>
              </a:rPr>
              <a:t>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4752" y="3730752"/>
            <a:ext cx="4160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4121A"/>
                </a:solidFill>
                <a:latin typeface="Helvetica"/>
              </a:rPr>
              <a:t>Fear-based recall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169664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702070"/>
                </a:solidFill>
                <a:latin typeface="Helvetica"/>
              </a:rPr>
              <a:t>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4752" y="4169664"/>
            <a:ext cx="4160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4121A"/>
                </a:solidFill>
                <a:latin typeface="Helvetica"/>
              </a:rPr>
              <a:t>Dark patterns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606040"/>
            <a:ext cx="502920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78892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00">
                <a:solidFill>
                  <a:srgbClr val="6B6470"/>
                </a:solidFill>
                <a:latin typeface="Helvetica"/>
              </a:rPr>
              <a:t>WE DO THIS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29184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702070"/>
                </a:solidFill>
                <a:latin typeface="Helvetica"/>
              </a:rPr>
              <a:t>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31152" y="3291840"/>
            <a:ext cx="4160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4121A"/>
                </a:solidFill>
                <a:latin typeface="Helvetica"/>
              </a:rPr>
              <a:t>Patient education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730752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702070"/>
                </a:solidFill>
                <a:latin typeface="Helvetica"/>
              </a:rPr>
              <a:t>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31152" y="3730752"/>
            <a:ext cx="4160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4121A"/>
                </a:solidFill>
                <a:latin typeface="Helvetica"/>
              </a:rPr>
              <a:t>Clinical transparency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4169664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702070"/>
                </a:solidFill>
                <a:latin typeface="Helvetica"/>
              </a:rPr>
              <a:t>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31152" y="4169664"/>
            <a:ext cx="4160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4121A"/>
                </a:solidFill>
                <a:latin typeface="Helvetica"/>
              </a:rPr>
              <a:t>Trust-driven growth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44652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spc="100">
                <a:solidFill>
                  <a:srgbClr val="6B6470"/>
                </a:solidFill>
                <a:latin typeface="Helvetica"/>
              </a:rPr>
              <a:t>DENTFLUENCE 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470"/>
                </a:solidFill>
                <a:latin typeface="Helvetica"/>
              </a:rPr>
              <a:t>16 / 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180">
                <a:solidFill>
                  <a:srgbClr val="702070"/>
                </a:solidFill>
                <a:latin typeface="Helvetica"/>
              </a:rPr>
              <a:t>AI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04672"/>
            <a:ext cx="105156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1" i="0">
                <a:solidFill>
                  <a:srgbClr val="14121A"/>
                </a:solidFill>
                <a:latin typeface="Helvetica"/>
              </a:rPr>
              <a:t>AI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38528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6B6470"/>
                </a:solidFill>
                <a:latin typeface="Helvetica"/>
              </a:rPr>
              <a:t>AI assists. The doctor decides.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606040"/>
            <a:ext cx="1977481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" y="2729484"/>
            <a:ext cx="82296" cy="82296"/>
          </a:xfrm>
          <a:prstGeom prst="ellipse">
            <a:avLst/>
          </a:prstGeom>
          <a:solidFill>
            <a:srgbClr val="702070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2898648"/>
            <a:ext cx="172144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14121A"/>
                </a:solidFill>
                <a:latin typeface="Helvetica"/>
              </a:rPr>
              <a:t>Documentation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65033" y="2606040"/>
            <a:ext cx="1977481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088477" y="2729484"/>
            <a:ext cx="82296" cy="82296"/>
          </a:xfrm>
          <a:prstGeom prst="ellipse">
            <a:avLst/>
          </a:prstGeom>
          <a:solidFill>
            <a:srgbClr val="702070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93049" y="2898648"/>
            <a:ext cx="172144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14121A"/>
                </a:solidFill>
                <a:latin typeface="Helvetica"/>
              </a:rPr>
              <a:t>Clinical Assistance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07106" y="2606040"/>
            <a:ext cx="1977481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230550" y="2729484"/>
            <a:ext cx="82296" cy="82296"/>
          </a:xfrm>
          <a:prstGeom prst="ellipse">
            <a:avLst/>
          </a:prstGeom>
          <a:solidFill>
            <a:srgbClr val="702070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35122" y="2898648"/>
            <a:ext cx="172144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14121A"/>
                </a:solidFill>
                <a:latin typeface="Helvetica"/>
              </a:rPr>
              <a:t>Automation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49180" y="2606040"/>
            <a:ext cx="1977481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72624" y="2729484"/>
            <a:ext cx="82296" cy="82296"/>
          </a:xfrm>
          <a:prstGeom prst="ellipse">
            <a:avLst/>
          </a:prstGeom>
          <a:solidFill>
            <a:srgbClr val="702070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77196" y="2898648"/>
            <a:ext cx="172144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14121A"/>
                </a:solidFill>
                <a:latin typeface="Helvetica"/>
              </a:rPr>
              <a:t>Analytics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91253" y="2606040"/>
            <a:ext cx="1977481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514697" y="2729484"/>
            <a:ext cx="82296" cy="82296"/>
          </a:xfrm>
          <a:prstGeom prst="ellipse">
            <a:avLst/>
          </a:prstGeom>
          <a:solidFill>
            <a:srgbClr val="702070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19269" y="2898648"/>
            <a:ext cx="172144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14121A"/>
                </a:solidFill>
                <a:latin typeface="Helvetica"/>
              </a:rPr>
              <a:t>Communication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44652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spc="100">
                <a:solidFill>
                  <a:srgbClr val="6B6470"/>
                </a:solidFill>
                <a:latin typeface="Helvetica"/>
              </a:rPr>
              <a:t>DENTFLUENCE 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470"/>
                </a:solidFill>
                <a:latin typeface="Helvetica"/>
              </a:rPr>
              <a:t>17 / 25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180">
                <a:solidFill>
                  <a:srgbClr val="702070"/>
                </a:solidFill>
                <a:latin typeface="Helvetica"/>
              </a:rPr>
              <a:t>FUTURE ROADMAP — NOT V1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04672"/>
            <a:ext cx="105156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1" i="0">
                <a:solidFill>
                  <a:srgbClr val="14121A"/>
                </a:solidFill>
                <a:latin typeface="Helvetica"/>
              </a:rPr>
              <a:t>Tulip — the AI Secretary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38528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6B6470"/>
                </a:solidFill>
                <a:latin typeface="Helvetica"/>
              </a:rPr>
              <a:t>Where the architecture is designed to go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606040"/>
            <a:ext cx="2512999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" y="2729484"/>
            <a:ext cx="82296" cy="82296"/>
          </a:xfrm>
          <a:prstGeom prst="ellipse">
            <a:avLst/>
          </a:prstGeom>
          <a:solidFill>
            <a:srgbClr val="702070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2898648"/>
            <a:ext cx="225696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14121A"/>
                </a:solidFill>
                <a:latin typeface="Helvetica"/>
              </a:rPr>
              <a:t>Voice Commands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00551" y="2606040"/>
            <a:ext cx="2512999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623995" y="2729484"/>
            <a:ext cx="82296" cy="82296"/>
          </a:xfrm>
          <a:prstGeom prst="ellipse">
            <a:avLst/>
          </a:prstGeom>
          <a:solidFill>
            <a:srgbClr val="702070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28567" y="2898648"/>
            <a:ext cx="225696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14121A"/>
                </a:solidFill>
                <a:latin typeface="Helvetica"/>
              </a:rPr>
              <a:t>Agentic 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8143" y="2606040"/>
            <a:ext cx="2512999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01587" y="2729484"/>
            <a:ext cx="82296" cy="82296"/>
          </a:xfrm>
          <a:prstGeom prst="ellipse">
            <a:avLst/>
          </a:prstGeom>
          <a:solidFill>
            <a:srgbClr val="702070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6159" y="2898648"/>
            <a:ext cx="225696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14121A"/>
                </a:solidFill>
                <a:latin typeface="Helvetica"/>
              </a:rPr>
              <a:t>Smart Scheduling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55735" y="2606040"/>
            <a:ext cx="2512999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979179" y="2729484"/>
            <a:ext cx="82296" cy="82296"/>
          </a:xfrm>
          <a:prstGeom prst="ellipse">
            <a:avLst/>
          </a:prstGeom>
          <a:solidFill>
            <a:srgbClr val="702070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83751" y="2898648"/>
            <a:ext cx="225696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14121A"/>
                </a:solidFill>
                <a:latin typeface="Helvetica"/>
              </a:rPr>
              <a:t>Autonomous Follow-ups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547872"/>
            <a:ext cx="2512999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46404" y="3671316"/>
            <a:ext cx="82296" cy="82296"/>
          </a:xfrm>
          <a:prstGeom prst="ellipse">
            <a:avLst/>
          </a:prstGeom>
          <a:solidFill>
            <a:srgbClr val="702070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" y="3840480"/>
            <a:ext cx="225696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14121A"/>
                </a:solidFill>
                <a:latin typeface="Helvetica"/>
              </a:rPr>
              <a:t>AI Reception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00551" y="3547872"/>
            <a:ext cx="2512999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23995" y="3671316"/>
            <a:ext cx="82296" cy="82296"/>
          </a:xfrm>
          <a:prstGeom prst="ellipse">
            <a:avLst/>
          </a:prstGeom>
          <a:solidFill>
            <a:srgbClr val="702070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28567" y="3840480"/>
            <a:ext cx="225696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14121A"/>
                </a:solidFill>
                <a:latin typeface="Helvetica"/>
              </a:rPr>
              <a:t>AI Assistant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8143" y="3547872"/>
            <a:ext cx="2512999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01587" y="3671316"/>
            <a:ext cx="82296" cy="82296"/>
          </a:xfrm>
          <a:prstGeom prst="ellipse">
            <a:avLst/>
          </a:prstGeom>
          <a:solidFill>
            <a:srgbClr val="702070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6159" y="3840480"/>
            <a:ext cx="225696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14121A"/>
                </a:solidFill>
                <a:latin typeface="Helvetica"/>
              </a:rPr>
              <a:t>AI Practice Manager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55735" y="3547872"/>
            <a:ext cx="2512999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979179" y="3671316"/>
            <a:ext cx="82296" cy="82296"/>
          </a:xfrm>
          <a:prstGeom prst="ellipse">
            <a:avLst/>
          </a:prstGeom>
          <a:solidFill>
            <a:srgbClr val="702070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83751" y="3840480"/>
            <a:ext cx="225696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14121A"/>
                </a:solidFill>
                <a:latin typeface="Helvetica"/>
              </a:rPr>
              <a:t>AI Analytics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644652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spc="100">
                <a:solidFill>
                  <a:srgbClr val="6B6470"/>
                </a:solidFill>
                <a:latin typeface="Helvetica"/>
              </a:rPr>
              <a:t>DENTFLUENCE 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470"/>
                </a:solidFill>
                <a:latin typeface="Helvetica"/>
              </a:rPr>
              <a:t>18 / 25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180">
                <a:solidFill>
                  <a:srgbClr val="702070"/>
                </a:solidFill>
                <a:latin typeface="Helvetica"/>
              </a:rPr>
              <a:t>ENGINEERING DISCIPLINE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04672"/>
            <a:ext cx="105156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1" i="0">
                <a:solidFill>
                  <a:srgbClr val="14121A"/>
                </a:solidFill>
                <a:latin typeface="Helvetica"/>
              </a:rPr>
              <a:t>Engineering Discipline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38528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6B6470"/>
                </a:solidFill>
                <a:latin typeface="Helvetica"/>
              </a:rPr>
              <a:t>Eleven gates. Every module. No exceptions.</a:t>
            </a:r>
          </a:p>
        </p:txBody>
      </p:sp>
      <p:sp>
        <p:nvSpPr>
          <p:cNvPr id="5" name="Oval 4"/>
          <p:cNvSpPr/>
          <p:nvPr/>
        </p:nvSpPr>
        <p:spPr>
          <a:xfrm>
            <a:off x="1445742" y="2990088"/>
            <a:ext cx="512064" cy="512064"/>
          </a:xfrm>
          <a:prstGeom prst="ellipse">
            <a:avLst/>
          </a:prstGeom>
          <a:solidFill>
            <a:srgbClr val="F4E8F4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5994" y="3575304"/>
            <a:ext cx="1051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6B6470"/>
                </a:solidFill>
                <a:latin typeface="Helvetica"/>
              </a:rPr>
              <a:t>Audit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57806.5833333335" y="3246120"/>
            <a:ext cx="1245565.1666666665" cy="0"/>
          </a:xfrm>
          <a:prstGeom prst="line">
            <a:avLst/>
          </a:prstGeom>
          <a:ln w="15875">
            <a:solidFill>
              <a:srgbClr val="702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3203371" y="2990088"/>
            <a:ext cx="512064" cy="512064"/>
          </a:xfrm>
          <a:prstGeom prst="ellipse">
            <a:avLst/>
          </a:prstGeom>
          <a:solidFill>
            <a:srgbClr val="F4E8F4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33623" y="3575304"/>
            <a:ext cx="1051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6B6470"/>
                </a:solidFill>
                <a:latin typeface="Helvetica"/>
              </a:rPr>
              <a:t>Planning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715435.75" y="3246120"/>
            <a:ext cx="1245565.166666667" cy="0"/>
          </a:xfrm>
          <a:prstGeom prst="line">
            <a:avLst/>
          </a:prstGeom>
          <a:ln w="15875">
            <a:solidFill>
              <a:srgbClr val="702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4961000" y="2990088"/>
            <a:ext cx="512064" cy="512064"/>
          </a:xfrm>
          <a:prstGeom prst="ellipse">
            <a:avLst/>
          </a:prstGeom>
          <a:solidFill>
            <a:srgbClr val="F4E8F4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91252" y="3575304"/>
            <a:ext cx="1051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6B6470"/>
                </a:solidFill>
                <a:latin typeface="Helvetica"/>
              </a:rPr>
              <a:t>Implementation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73064.916666667" y="3246120"/>
            <a:ext cx="1245565.166666667" cy="0"/>
          </a:xfrm>
          <a:prstGeom prst="line">
            <a:avLst/>
          </a:prstGeom>
          <a:ln w="15875">
            <a:solidFill>
              <a:srgbClr val="702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6718630" y="2990088"/>
            <a:ext cx="512064" cy="512064"/>
          </a:xfrm>
          <a:prstGeom prst="ellipse">
            <a:avLst/>
          </a:prstGeom>
          <a:solidFill>
            <a:srgbClr val="F4E8F4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8882" y="3575304"/>
            <a:ext cx="1051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6B6470"/>
                </a:solidFill>
                <a:latin typeface="Helvetica"/>
              </a:rPr>
              <a:t>Testing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230694.083333334" y="3246120"/>
            <a:ext cx="1245565.166666666" cy="0"/>
          </a:xfrm>
          <a:prstGeom prst="line">
            <a:avLst/>
          </a:prstGeom>
          <a:ln w="15875">
            <a:solidFill>
              <a:srgbClr val="702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8476259" y="2990088"/>
            <a:ext cx="512064" cy="512064"/>
          </a:xfrm>
          <a:prstGeom prst="ellipse">
            <a:avLst/>
          </a:prstGeom>
          <a:solidFill>
            <a:srgbClr val="F4E8F4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06511" y="3575304"/>
            <a:ext cx="1051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6B6470"/>
                </a:solidFill>
                <a:latin typeface="Helvetica"/>
              </a:rPr>
              <a:t>Bug Fixes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988323.25" y="3246120"/>
            <a:ext cx="1245565.166666668" cy="0"/>
          </a:xfrm>
          <a:prstGeom prst="line">
            <a:avLst/>
          </a:prstGeom>
          <a:ln w="15875">
            <a:solidFill>
              <a:srgbClr val="702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10233888" y="2990088"/>
            <a:ext cx="512064" cy="512064"/>
          </a:xfrm>
          <a:prstGeom prst="ellipse">
            <a:avLst/>
          </a:prstGeom>
          <a:solidFill>
            <a:srgbClr val="F4E8F4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64140" y="3575304"/>
            <a:ext cx="1051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6B6470"/>
                </a:solidFill>
                <a:latin typeface="Helvetica"/>
              </a:rPr>
              <a:t>Parity</a:t>
            </a:r>
          </a:p>
        </p:txBody>
      </p:sp>
      <p:sp>
        <p:nvSpPr>
          <p:cNvPr id="22" name="Oval 21"/>
          <p:cNvSpPr/>
          <p:nvPr/>
        </p:nvSpPr>
        <p:spPr>
          <a:xfrm>
            <a:off x="1621505" y="3950208"/>
            <a:ext cx="512064" cy="512064"/>
          </a:xfrm>
          <a:prstGeom prst="ellipse">
            <a:avLst/>
          </a:prstGeom>
          <a:solidFill>
            <a:srgbClr val="F4E8F4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51757" y="4535424"/>
            <a:ext cx="1051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6B6470"/>
                </a:solidFill>
                <a:latin typeface="Helvetica"/>
              </a:rPr>
              <a:t>Variants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133569.5" y="4206240"/>
            <a:ext cx="1597091.0" cy="0"/>
          </a:xfrm>
          <a:prstGeom prst="line">
            <a:avLst/>
          </a:prstGeom>
          <a:ln w="15875">
            <a:solidFill>
              <a:srgbClr val="702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3730660" y="3950208"/>
            <a:ext cx="512064" cy="512064"/>
          </a:xfrm>
          <a:prstGeom prst="ellipse">
            <a:avLst/>
          </a:prstGeom>
          <a:solidFill>
            <a:srgbClr val="F4E8F4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60912" y="4535424"/>
            <a:ext cx="1051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6B6470"/>
                </a:solidFill>
                <a:latin typeface="Helvetica"/>
              </a:rPr>
              <a:t>Hardening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242724.5" y="4206240"/>
            <a:ext cx="1597091.0" cy="0"/>
          </a:xfrm>
          <a:prstGeom prst="line">
            <a:avLst/>
          </a:prstGeom>
          <a:ln w="15875">
            <a:solidFill>
              <a:srgbClr val="702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5839815" y="3950208"/>
            <a:ext cx="512064" cy="512064"/>
          </a:xfrm>
          <a:prstGeom prst="ellipse">
            <a:avLst/>
          </a:prstGeom>
          <a:solidFill>
            <a:srgbClr val="F4E8F4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70067" y="4535424"/>
            <a:ext cx="1051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6B6470"/>
                </a:solidFill>
                <a:latin typeface="Helvetica"/>
              </a:rPr>
              <a:t>Live Validation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351879.5" y="4206240"/>
            <a:ext cx="1597091.0" cy="0"/>
          </a:xfrm>
          <a:prstGeom prst="line">
            <a:avLst/>
          </a:prstGeom>
          <a:ln w="15875">
            <a:solidFill>
              <a:srgbClr val="702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7948970" y="3950208"/>
            <a:ext cx="512064" cy="512064"/>
          </a:xfrm>
          <a:prstGeom prst="ellipse">
            <a:avLst/>
          </a:prstGeom>
          <a:solidFill>
            <a:srgbClr val="F4E8F4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79222" y="4535424"/>
            <a:ext cx="1051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6B6470"/>
                </a:solidFill>
                <a:latin typeface="Helvetica"/>
              </a:rPr>
              <a:t>Freeze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461034.5" y="4206240"/>
            <a:ext cx="1597091.0" cy="0"/>
          </a:xfrm>
          <a:prstGeom prst="line">
            <a:avLst/>
          </a:prstGeom>
          <a:ln w="15875">
            <a:solidFill>
              <a:srgbClr val="E8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10058125" y="3950208"/>
            <a:ext cx="512064" cy="512064"/>
          </a:xfrm>
          <a:prstGeom prst="ellipse">
            <a:avLst/>
          </a:prstGeom>
          <a:solidFill>
            <a:srgbClr val="702070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900" b="1">
                <a:solidFill>
                  <a:srgbClr val="FFFFFF"/>
                </a:solidFill>
              </a:rPr>
              <a:t>OK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88377" y="4535424"/>
            <a:ext cx="1051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6B6470"/>
                </a:solidFill>
                <a:latin typeface="Helvetica"/>
              </a:rPr>
              <a:t>Production Ready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644652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spc="100">
                <a:solidFill>
                  <a:srgbClr val="6B6470"/>
                </a:solidFill>
                <a:latin typeface="Helvetica"/>
              </a:rPr>
              <a:t>DENTFLUENCE OS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0704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470"/>
                </a:solidFill>
                <a:latin typeface="Helvetica"/>
              </a:rPr>
              <a:t>19 / 25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180">
                <a:solidFill>
                  <a:srgbClr val="702070"/>
                </a:solidFill>
                <a:latin typeface="Helvetica"/>
              </a:rPr>
              <a:t>DEFENSIBILITY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04672"/>
            <a:ext cx="105156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1" i="0">
                <a:solidFill>
                  <a:srgbClr val="14121A"/>
                </a:solidFill>
                <a:latin typeface="Helvetica"/>
              </a:rPr>
              <a:t>Why This Is Difficult To 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38528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6B6470"/>
                </a:solidFill>
                <a:latin typeface="Helvetica"/>
              </a:rPr>
              <a:t>The moat isn't the 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606040"/>
            <a:ext cx="502920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78892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00">
                <a:solidFill>
                  <a:srgbClr val="6B6470"/>
                </a:solidFill>
                <a:latin typeface="Helvetica"/>
              </a:rPr>
              <a:t>VISIBLE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29184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702070"/>
                </a:solidFill>
                <a:latin typeface="Helvetica"/>
              </a:rPr>
              <a:t>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4752" y="3291840"/>
            <a:ext cx="4160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4121A"/>
                </a:solidFill>
                <a:latin typeface="Helvetica"/>
              </a:rPr>
              <a:t>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730752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702070"/>
                </a:solidFill>
                <a:latin typeface="Helvetica"/>
              </a:rPr>
              <a:t>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4752" y="3730752"/>
            <a:ext cx="4160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4121A"/>
                </a:solidFill>
                <a:latin typeface="Helvetica"/>
              </a:rPr>
              <a:t>UI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606040"/>
            <a:ext cx="502920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278892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00">
                <a:solidFill>
                  <a:srgbClr val="6B6470"/>
                </a:solidFill>
                <a:latin typeface="Helvetica"/>
              </a:rPr>
              <a:t>THE REAL MOAT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329184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702070"/>
                </a:solidFill>
                <a:latin typeface="Helvetica"/>
              </a:rPr>
              <a:t>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31152" y="3291840"/>
            <a:ext cx="4160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4121A"/>
                </a:solidFill>
                <a:latin typeface="Helvetica"/>
              </a:rPr>
              <a:t>Workflow knowledge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730752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702070"/>
                </a:solidFill>
                <a:latin typeface="Helvetica"/>
              </a:rPr>
              <a:t>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31152" y="3730752"/>
            <a:ext cx="4160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4121A"/>
                </a:solidFill>
                <a:latin typeface="Helvetica"/>
              </a:rPr>
              <a:t>Clinical understanding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4169664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702070"/>
                </a:solidFill>
                <a:latin typeface="Helvetica"/>
              </a:rPr>
              <a:t>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31152" y="4169664"/>
            <a:ext cx="4160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4121A"/>
                </a:solidFill>
                <a:latin typeface="Helvetica"/>
              </a:rPr>
              <a:t>Years of refinement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4608576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702070"/>
                </a:solidFill>
                <a:latin typeface="Helvetica"/>
              </a:rPr>
              <a:t>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31152" y="4608576"/>
            <a:ext cx="4160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4121A"/>
                </a:solidFill>
                <a:latin typeface="Helvetica"/>
              </a:rPr>
              <a:t>Real clinic validation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5047488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702070"/>
                </a:solidFill>
                <a:latin typeface="Helvetica"/>
              </a:rPr>
              <a:t>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31152" y="5047488"/>
            <a:ext cx="4160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4121A"/>
                </a:solidFill>
                <a:latin typeface="Helvetica"/>
              </a:rPr>
              <a:t>Ethical philosophy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548640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702070"/>
                </a:solidFill>
                <a:latin typeface="Helvetica"/>
              </a:rPr>
              <a:t>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31152" y="5486400"/>
            <a:ext cx="4160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4121A"/>
                </a:solidFill>
                <a:latin typeface="Helvetica"/>
              </a:rPr>
              <a:t>Integrated architecture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644652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spc="100">
                <a:solidFill>
                  <a:srgbClr val="6B6470"/>
                </a:solidFill>
                <a:latin typeface="Helvetica"/>
              </a:rPr>
              <a:t>DENTFLUENCE 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470"/>
                </a:solidFill>
                <a:latin typeface="Helvetica"/>
              </a:rPr>
              <a:t>20 / 25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180">
                <a:solidFill>
                  <a:srgbClr val="702070"/>
                </a:solidFill>
                <a:latin typeface="Helvetica"/>
              </a:rPr>
              <a:t>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04672"/>
            <a:ext cx="105156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1" i="0">
                <a:solidFill>
                  <a:srgbClr val="14121A"/>
                </a:solidFill>
                <a:latin typeface="Helvetica"/>
              </a:rPr>
              <a:t>Business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38528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6B6470"/>
                </a:solidFill>
                <a:latin typeface="Helvetica"/>
              </a:rPr>
              <a:t>A large, fragmented, underserved market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606040"/>
            <a:ext cx="340553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" y="2729484"/>
            <a:ext cx="82296" cy="82296"/>
          </a:xfrm>
          <a:prstGeom prst="ellipse">
            <a:avLst/>
          </a:prstGeom>
          <a:solidFill>
            <a:srgbClr val="702070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2898648"/>
            <a:ext cx="314949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14121A"/>
                </a:solidFill>
                <a:latin typeface="Helvetica"/>
              </a:rPr>
              <a:t>Subscription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3227832"/>
            <a:ext cx="314949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50" b="0" i="0">
                <a:solidFill>
                  <a:srgbClr val="6B6470"/>
                </a:solidFill>
                <a:latin typeface="Helvetica"/>
              </a:rPr>
              <a:t>Core OS, per clinic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3082" y="2606040"/>
            <a:ext cx="340553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16526" y="2729484"/>
            <a:ext cx="82296" cy="82296"/>
          </a:xfrm>
          <a:prstGeom prst="ellipse">
            <a:avLst/>
          </a:prstGeom>
          <a:solidFill>
            <a:srgbClr val="702070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1098" y="2898648"/>
            <a:ext cx="314949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14121A"/>
                </a:solidFill>
                <a:latin typeface="Helvetica"/>
              </a:rPr>
              <a:t>Clinical Media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1098" y="3227832"/>
            <a:ext cx="314949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50" b="0" i="0">
                <a:solidFill>
                  <a:srgbClr val="6B6470"/>
                </a:solidFill>
                <a:latin typeface="Helvetica"/>
              </a:rPr>
              <a:t>Patient education content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63204" y="2606040"/>
            <a:ext cx="340553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86648" y="2729484"/>
            <a:ext cx="82296" cy="82296"/>
          </a:xfrm>
          <a:prstGeom prst="ellipse">
            <a:avLst/>
          </a:prstGeom>
          <a:solidFill>
            <a:srgbClr val="702070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1220" y="2898648"/>
            <a:ext cx="314949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14121A"/>
                </a:solidFill>
                <a:latin typeface="Helvetica"/>
              </a:rPr>
              <a:t>Education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1220" y="3227832"/>
            <a:ext cx="314949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50" b="0" i="0">
                <a:solidFill>
                  <a:srgbClr val="6B6470"/>
                </a:solidFill>
                <a:latin typeface="Helvetica"/>
              </a:rPr>
              <a:t>CE and training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822192"/>
            <a:ext cx="340553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46404" y="3945636"/>
            <a:ext cx="82296" cy="82296"/>
          </a:xfrm>
          <a:prstGeom prst="ellipse">
            <a:avLst/>
          </a:prstGeom>
          <a:solidFill>
            <a:srgbClr val="702070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" y="4114800"/>
            <a:ext cx="314949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14121A"/>
                </a:solidFill>
                <a:latin typeface="Helvetica"/>
              </a:rPr>
              <a:t>Marketplace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" y="4443984"/>
            <a:ext cx="314949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50" b="0" i="0">
                <a:solidFill>
                  <a:srgbClr val="6B6470"/>
                </a:solidFill>
                <a:latin typeface="Helvetica"/>
              </a:rPr>
              <a:t>Vendor and lab network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93082" y="3822192"/>
            <a:ext cx="340553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516526" y="3945636"/>
            <a:ext cx="82296" cy="82296"/>
          </a:xfrm>
          <a:prstGeom prst="ellipse">
            <a:avLst/>
          </a:prstGeom>
          <a:solidFill>
            <a:srgbClr val="702070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1098" y="4114800"/>
            <a:ext cx="314949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14121A"/>
                </a:solidFill>
                <a:latin typeface="Helvetica"/>
              </a:rPr>
              <a:t>Enterprise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1098" y="4443984"/>
            <a:ext cx="314949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50" b="0" i="0">
                <a:solidFill>
                  <a:srgbClr val="6B6470"/>
                </a:solidFill>
                <a:latin typeface="Helvetica"/>
              </a:rPr>
              <a:t>Multi-clinic groups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644652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spc="100">
                <a:solidFill>
                  <a:srgbClr val="6B6470"/>
                </a:solidFill>
                <a:latin typeface="Helvetica"/>
              </a:rPr>
              <a:t>DENTFLUENCE 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470"/>
                </a:solidFill>
                <a:latin typeface="Helvetica"/>
              </a:rPr>
              <a:t>21 / 25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180">
                <a:solidFill>
                  <a:srgbClr val="702070"/>
                </a:solidFill>
                <a:latin typeface="Helvetica"/>
              </a:rPr>
              <a:t>EXECUTION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04672"/>
            <a:ext cx="105156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1" i="0">
                <a:solidFill>
                  <a:srgbClr val="14121A"/>
                </a:solidFill>
                <a:latin typeface="Helvetica"/>
              </a:rPr>
              <a:t>Execution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38528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6B6470"/>
                </a:solidFill>
                <a:latin typeface="Helvetica"/>
              </a:rPr>
              <a:t>Prove it in one clinic. Then scale it.</a:t>
            </a:r>
          </a:p>
        </p:txBody>
      </p:sp>
      <p:sp>
        <p:nvSpPr>
          <p:cNvPr id="5" name="Oval 4"/>
          <p:cNvSpPr/>
          <p:nvPr/>
        </p:nvSpPr>
        <p:spPr>
          <a:xfrm>
            <a:off x="1445742" y="2990088"/>
            <a:ext cx="512064" cy="512064"/>
          </a:xfrm>
          <a:prstGeom prst="ellipse">
            <a:avLst/>
          </a:prstGeom>
          <a:solidFill>
            <a:srgbClr val="F4E8F4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5994" y="3575304"/>
            <a:ext cx="1051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6B6470"/>
                </a:solidFill>
                <a:latin typeface="Helvetica"/>
              </a:rPr>
              <a:t>Tulip Dental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57806.5833333335" y="3246120"/>
            <a:ext cx="1245565.1666666665" cy="0"/>
          </a:xfrm>
          <a:prstGeom prst="line">
            <a:avLst/>
          </a:prstGeom>
          <a:ln w="15875">
            <a:solidFill>
              <a:srgbClr val="702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3203371" y="2990088"/>
            <a:ext cx="512064" cy="512064"/>
          </a:xfrm>
          <a:prstGeom prst="ellipse">
            <a:avLst/>
          </a:prstGeom>
          <a:solidFill>
            <a:srgbClr val="F4E8F4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33623" y="3575304"/>
            <a:ext cx="1051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6B6470"/>
                </a:solidFill>
                <a:latin typeface="Helvetica"/>
              </a:rPr>
              <a:t>Production Ready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715435.75" y="3246120"/>
            <a:ext cx="1245565.166666667" cy="0"/>
          </a:xfrm>
          <a:prstGeom prst="line">
            <a:avLst/>
          </a:prstGeom>
          <a:ln w="15875">
            <a:solidFill>
              <a:srgbClr val="702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4961000" y="2990088"/>
            <a:ext cx="512064" cy="512064"/>
          </a:xfrm>
          <a:prstGeom prst="ellipse">
            <a:avLst/>
          </a:prstGeom>
          <a:solidFill>
            <a:srgbClr val="F4E8F4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91252" y="3575304"/>
            <a:ext cx="1051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6B6470"/>
                </a:solidFill>
                <a:latin typeface="Helvetica"/>
              </a:rPr>
              <a:t>10 Clinics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73064.916666667" y="3246120"/>
            <a:ext cx="1245565.166666667" cy="0"/>
          </a:xfrm>
          <a:prstGeom prst="line">
            <a:avLst/>
          </a:prstGeom>
          <a:ln w="15875">
            <a:solidFill>
              <a:srgbClr val="702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6718630" y="2990088"/>
            <a:ext cx="512064" cy="512064"/>
          </a:xfrm>
          <a:prstGeom prst="ellipse">
            <a:avLst/>
          </a:prstGeom>
          <a:solidFill>
            <a:srgbClr val="F4E8F4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8882" y="3575304"/>
            <a:ext cx="1051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6B6470"/>
                </a:solidFill>
                <a:latin typeface="Helvetica"/>
              </a:rPr>
              <a:t>100 Clinics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230694.083333334" y="3246120"/>
            <a:ext cx="1245565.166666666" cy="0"/>
          </a:xfrm>
          <a:prstGeom prst="line">
            <a:avLst/>
          </a:prstGeom>
          <a:ln w="15875">
            <a:solidFill>
              <a:srgbClr val="702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8476259" y="2990088"/>
            <a:ext cx="512064" cy="512064"/>
          </a:xfrm>
          <a:prstGeom prst="ellipse">
            <a:avLst/>
          </a:prstGeom>
          <a:solidFill>
            <a:srgbClr val="F4E8F4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06511" y="3575304"/>
            <a:ext cx="1051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6B6470"/>
                </a:solidFill>
                <a:latin typeface="Helvetica"/>
              </a:rPr>
              <a:t>1,000 Clinics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988323.25" y="3246120"/>
            <a:ext cx="1245565.166666668" cy="0"/>
          </a:xfrm>
          <a:prstGeom prst="line">
            <a:avLst/>
          </a:prstGeom>
          <a:ln w="15875">
            <a:solidFill>
              <a:srgbClr val="702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10233888" y="2990088"/>
            <a:ext cx="512064" cy="512064"/>
          </a:xfrm>
          <a:prstGeom prst="ellipse">
            <a:avLst/>
          </a:prstGeom>
          <a:solidFill>
            <a:srgbClr val="F4E8F4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64140" y="3575304"/>
            <a:ext cx="1051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6B6470"/>
                </a:solidFill>
                <a:latin typeface="Helvetica"/>
              </a:rPr>
              <a:t>Scale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44652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spc="100">
                <a:solidFill>
                  <a:srgbClr val="6B6470"/>
                </a:solidFill>
                <a:latin typeface="Helvetica"/>
              </a:rPr>
              <a:t>DENTFLUENCE 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470"/>
                </a:solidFill>
                <a:latin typeface="Helvetica"/>
              </a:rPr>
              <a:t>22 / 25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180">
                <a:solidFill>
                  <a:srgbClr val="702070"/>
                </a:solidFill>
                <a:latin typeface="Helvetica"/>
              </a:rPr>
              <a:t>CAPITAL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04672"/>
            <a:ext cx="105156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1" i="0">
                <a:solidFill>
                  <a:srgbClr val="14121A"/>
                </a:solidFill>
                <a:latin typeface="Helvetica"/>
              </a:rPr>
              <a:t>Why We Are Not Raising Investment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38528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6B6470"/>
                </a:solidFill>
                <a:latin typeface="Helvetica"/>
              </a:rPr>
              <a:t>Product first. Validation first. Scale later.</a:t>
            </a:r>
          </a:p>
        </p:txBody>
      </p:sp>
      <p:sp>
        <p:nvSpPr>
          <p:cNvPr id="5" name="Oval 4"/>
          <p:cNvSpPr/>
          <p:nvPr/>
        </p:nvSpPr>
        <p:spPr>
          <a:xfrm>
            <a:off x="2324557" y="2990088"/>
            <a:ext cx="512064" cy="512064"/>
          </a:xfrm>
          <a:prstGeom prst="ellipse">
            <a:avLst/>
          </a:prstGeom>
          <a:solidFill>
            <a:srgbClr val="F4E8F4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54809" y="3575304"/>
            <a:ext cx="1051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6B6470"/>
                </a:solidFill>
                <a:latin typeface="Helvetica"/>
              </a:rPr>
              <a:t>Product First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836621.166666667" y="3246120"/>
            <a:ext cx="3003194.333333333" cy="0"/>
          </a:xfrm>
          <a:prstGeom prst="line">
            <a:avLst/>
          </a:prstGeom>
          <a:ln w="15875">
            <a:solidFill>
              <a:srgbClr val="702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5839815" y="2990088"/>
            <a:ext cx="512064" cy="512064"/>
          </a:xfrm>
          <a:prstGeom prst="ellipse">
            <a:avLst/>
          </a:prstGeom>
          <a:solidFill>
            <a:srgbClr val="F4E8F4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0067" y="3575304"/>
            <a:ext cx="1051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6B6470"/>
                </a:solidFill>
                <a:latin typeface="Helvetica"/>
              </a:rPr>
              <a:t>Validation First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351879.5" y="3246120"/>
            <a:ext cx="3003194.333333334" cy="0"/>
          </a:xfrm>
          <a:prstGeom prst="line">
            <a:avLst/>
          </a:prstGeom>
          <a:ln w="15875">
            <a:solidFill>
              <a:srgbClr val="702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9355073" y="2990088"/>
            <a:ext cx="512064" cy="512064"/>
          </a:xfrm>
          <a:prstGeom prst="ellipse">
            <a:avLst/>
          </a:prstGeom>
          <a:solidFill>
            <a:srgbClr val="F4E8F4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85325" y="3575304"/>
            <a:ext cx="1051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6B6470"/>
                </a:solidFill>
                <a:latin typeface="Helvetica"/>
              </a:rPr>
              <a:t>Scale Later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44652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spc="100">
                <a:solidFill>
                  <a:srgbClr val="6B6470"/>
                </a:solidFill>
                <a:latin typeface="Helvetica"/>
              </a:rPr>
              <a:t>DENTFLUENCE 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470"/>
                </a:solidFill>
                <a:latin typeface="Helvetica"/>
              </a:rPr>
              <a:t>23 / 25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180">
                <a:solidFill>
                  <a:srgbClr val="702070"/>
                </a:solidFill>
                <a:latin typeface="Helvetica"/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04672"/>
            <a:ext cx="105156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1" i="0">
                <a:solidFill>
                  <a:srgbClr val="14121A"/>
                </a:solidFill>
                <a:latin typeface="Helvetica"/>
              </a:rPr>
              <a:t>Where We Need Help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38528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6B6470"/>
                </a:solidFill>
                <a:latin typeface="Helvetica"/>
              </a:rPr>
              <a:t>This is not a pitch. It's an invitation.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606040"/>
            <a:ext cx="2512999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" y="2729484"/>
            <a:ext cx="82296" cy="82296"/>
          </a:xfrm>
          <a:prstGeom prst="ellipse">
            <a:avLst/>
          </a:prstGeom>
          <a:solidFill>
            <a:srgbClr val="702070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2898648"/>
            <a:ext cx="225696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14121A"/>
                </a:solidFill>
                <a:latin typeface="Helvetica"/>
              </a:rPr>
              <a:t>Strategic Advisor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00551" y="2606040"/>
            <a:ext cx="2512999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623995" y="2729484"/>
            <a:ext cx="82296" cy="82296"/>
          </a:xfrm>
          <a:prstGeom prst="ellipse">
            <a:avLst/>
          </a:prstGeom>
          <a:solidFill>
            <a:srgbClr val="702070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28567" y="2898648"/>
            <a:ext cx="225696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14121A"/>
                </a:solidFill>
                <a:latin typeface="Helvetica"/>
              </a:rPr>
              <a:t>Industry Feedback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8143" y="2606040"/>
            <a:ext cx="2512999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01587" y="2729484"/>
            <a:ext cx="82296" cy="82296"/>
          </a:xfrm>
          <a:prstGeom prst="ellipse">
            <a:avLst/>
          </a:prstGeom>
          <a:solidFill>
            <a:srgbClr val="702070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6159" y="2898648"/>
            <a:ext cx="225696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14121A"/>
                </a:solidFill>
                <a:latin typeface="Helvetica"/>
              </a:rPr>
              <a:t>Clinical Critique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55735" y="2606040"/>
            <a:ext cx="2512999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979179" y="2729484"/>
            <a:ext cx="82296" cy="82296"/>
          </a:xfrm>
          <a:prstGeom prst="ellipse">
            <a:avLst/>
          </a:prstGeom>
          <a:solidFill>
            <a:srgbClr val="702070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83751" y="2898648"/>
            <a:ext cx="225696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14121A"/>
                </a:solidFill>
                <a:latin typeface="Helvetica"/>
              </a:rPr>
              <a:t>Innovation Guidance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639312"/>
            <a:ext cx="2512999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46404" y="3762756"/>
            <a:ext cx="82296" cy="82296"/>
          </a:xfrm>
          <a:prstGeom prst="ellipse">
            <a:avLst/>
          </a:prstGeom>
          <a:solidFill>
            <a:srgbClr val="702070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" y="3931920"/>
            <a:ext cx="225696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14121A"/>
                </a:solidFill>
                <a:latin typeface="Helvetica"/>
              </a:rPr>
              <a:t>Conference Exposure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00551" y="3639312"/>
            <a:ext cx="2512999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23995" y="3762756"/>
            <a:ext cx="82296" cy="82296"/>
          </a:xfrm>
          <a:prstGeom prst="ellipse">
            <a:avLst/>
          </a:prstGeom>
          <a:solidFill>
            <a:srgbClr val="702070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28567" y="3931920"/>
            <a:ext cx="225696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14121A"/>
                </a:solidFill>
                <a:latin typeface="Helvetica"/>
              </a:rPr>
              <a:t>Educational Collaboration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8143" y="3639312"/>
            <a:ext cx="2512999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01587" y="3762756"/>
            <a:ext cx="82296" cy="82296"/>
          </a:xfrm>
          <a:prstGeom prst="ellipse">
            <a:avLst/>
          </a:prstGeom>
          <a:solidFill>
            <a:srgbClr val="702070"/>
          </a:solidFill>
          <a:ln w="12700">
            <a:solidFill>
              <a:srgbClr val="70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6159" y="3931920"/>
            <a:ext cx="225696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14121A"/>
                </a:solidFill>
                <a:latin typeface="Helvetica"/>
              </a:rPr>
              <a:t>Product Validation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644652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spc="100">
                <a:solidFill>
                  <a:srgbClr val="6B6470"/>
                </a:solidFill>
                <a:latin typeface="Helvetica"/>
              </a:rPr>
              <a:t>DENTFLUENCE 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470"/>
                </a:solidFill>
                <a:latin typeface="Helvetica"/>
              </a:rPr>
              <a:t>24 / 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286000"/>
            <a:ext cx="10058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4121A"/>
                </a:solidFill>
                <a:latin typeface="Helvetica"/>
              </a:rPr>
              <a:t>Dentfluence is not another dental software.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840480"/>
            <a:ext cx="96012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702070"/>
                </a:solidFill>
                <a:latin typeface="Helvetica"/>
              </a:rPr>
              <a:t>It is building the Operating System on which the future dental practice will run.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