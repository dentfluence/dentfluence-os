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recurring revenue (₹ lakh)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4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Pilot
(our clinic)</c:v>
                  </c:pt>
                  <c:pt idx="1">
                    <c:v>Year 1
25 clinics</c:v>
                  </c:pt>
                  <c:pt idx="2">
                    <c:v>Year 2
150 clinics</c:v>
                  </c:pt>
                  <c:pt idx="3">
                    <c:v>Year 3
500 clinics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7.5</c:v>
                </c:pt>
                <c:pt idx="2">
                  <c:v>45</c:v>
                </c:pt>
                <c:pt idx="3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24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This is the tool we needed, now real. The first audience is the hardest user — if it survives her, it survives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numbers are real and sourced. The revenue example is deliberately conservative and labelled illustrative — don't oversell it. 500 clinics is ~0.1% of India's dentists.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be the first real user, bargain hard, then we commercialise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143A3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931920"/>
            <a:ext cx="5669280" cy="5669280"/>
          </a:xfrm>
          <a:prstGeom prst="ellipse">
            <a:avLst/>
          </a:prstGeom>
          <a:solidFill>
            <a:srgbClr val="12312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868680" cy="8686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92811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DENTFLUENCE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management software,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a clinic — for clinics.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86968" y="4251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out of the real, daily pain of running a dental practice. Not a concept — a working system.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6968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for the first — and toughest — user.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late night went into one thing:</a:t>
            </a:r>
            <a:endParaRPr lang="en-US" sz="3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mess clinics live with.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it every day. 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chased over WhatsApp, recalls forgotten, billing pieced together from memory, money quietly slipping through the cracks. I didn't want to build an app to be clever — I built the tool we actually needed, the one no off-the-shelf software got right.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7240" y="48006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before I show anyone else — I want it to survive your judgement first.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4069080" cy="4663440"/>
          </a:xfrm>
          <a:prstGeom prst="roundRect">
            <a:avLst>
              <a:gd name="adj" fmla="val 2697"/>
            </a:avLst>
          </a:prstGeom>
          <a:solidFill>
            <a:srgbClr val="F4F7F5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737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most clinics run today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2331720"/>
            <a:ext cx="548640" cy="54864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432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02752" y="23134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02752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patients, stock, money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3246120"/>
            <a:ext cx="548640" cy="54864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34670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02752" y="32278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calls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302752" y="3520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reminder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4160520"/>
            <a:ext cx="548640" cy="54864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42611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41422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memory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02752" y="44348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clinical notes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635240" y="5074920"/>
            <a:ext cx="548640" cy="54864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51755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2752" y="5056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recalls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302752" y="5349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patients who never return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dental clinic is a real business</a:t>
            </a:r>
            <a:endParaRPr lang="en-US" sz="33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 tools never built for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770632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8712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34107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3272" y="3758184"/>
            <a:ext cx="2157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in one place, money in another, stock in a third. Nothing talks.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251460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67912" y="2770632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87121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34107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that leaks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67912" y="3758184"/>
            <a:ext cx="2157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and follow-ups slip. Every forgotten patient is a booking lost to a competitor.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46520" y="251460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02552" y="2770632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87121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02552" y="34107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everything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02552" y="3758184"/>
            <a:ext cx="2157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reminders, reports — typed by hand, late at night, with mistakes.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81160" y="251460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37192" y="2770632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87121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37192" y="34107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picture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37192" y="3758184"/>
            <a:ext cx="2157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we make money this month?" shouldn't be a guess. Usually, it 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First enquiry to final payment.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Dentfluence connects the whole clinic on one spine — so a patient, a treatment and the money all stay in sync.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353872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95144" y="3520440"/>
            <a:ext cx="343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2584094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50438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353872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84094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Appoint-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101998" y="3520440"/>
            <a:ext cx="343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4390949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7293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65" y="353872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90949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Consul-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908853" y="3520440"/>
            <a:ext cx="343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6197803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64147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19" y="3538728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97803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15707" y="3520440"/>
            <a:ext cx="343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8004658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471002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3538728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04658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22562" y="3520440"/>
            <a:ext cx="343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3"/>
          <p:cNvSpPr/>
          <p:nvPr/>
        </p:nvSpPr>
        <p:spPr>
          <a:xfrm>
            <a:off x="9811512" y="3200400"/>
            <a:ext cx="1572768" cy="1554480"/>
          </a:xfrm>
          <a:prstGeom prst="roundRect">
            <a:avLst>
              <a:gd name="adj" fmla="val 5882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0277856" y="3419856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728" y="3538728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811512" y="41148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this spine sit 20+ connected modules — clinical, money, communication, supply and admin — sharing one source of truth.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part that matters: it already runs.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modules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22402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37744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wired together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22402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7744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46520" y="31546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workflows live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81160" y="22402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37744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281160" y="31546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inbox &amp; ledger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4984" y="4069080"/>
            <a:ext cx="530352" cy="530352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4160520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45920" y="4133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core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14984" y="4709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appointments, consultations, treatment plans, prescriptions, clinical records, lab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11880" y="3840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9624" y="4069080"/>
            <a:ext cx="530352" cy="530352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4160520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480560" y="4133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3849624" y="4709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invoices, wallet, membership, coupons, GST, EMI, expenses, payroll, vendor AP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46520" y="3840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684264" y="4069080"/>
            <a:ext cx="530352" cy="530352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416052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0" y="4133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6684264" y="4709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opportunity, leads, B2B — four engines into one inbox, plus marketing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281160" y="3840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518904" y="4069080"/>
            <a:ext cx="530352" cy="530352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4160520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149840" y="4133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9518904" y="4709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procurement, HR, roles &amp; permissions, AI copilot, content library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DENTISTRY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thinks like a clinic, not a database.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78608"/>
            <a:ext cx="658368" cy="65836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9748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5968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consultation flows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30723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same-issue, minor visit and emergency — each matching how you actually work, not one rigid 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7F5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578608"/>
            <a:ext cx="658368" cy="65836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6974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5968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 with a brain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60920" y="30723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catalogue, dose templates, and automatic allergy &amp; interaction checks with a full audit trail.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1605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453128"/>
            <a:ext cx="658368" cy="65836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71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plans that convert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20240" y="494690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plan, attach EMI/financing, track acceptance — and it flows straight into billing.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7F5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53128"/>
            <a:ext cx="658368" cy="65836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57200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71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&amp; implants handled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60920" y="494690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cases to vendors, attachments, reconciliation, implant catalogue and stock — all tracked.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RUPEE, ACCOUNTED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side a dentist can actually trust.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a treatment is accepted to the day the books are closed — billing, wallet, financing and accounts all reconcile against one ledger.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566928" cy="56692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638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0449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receipts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3355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auto-built from plans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813048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9136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794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membership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41056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plans, benefits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4562856"/>
            <a:ext cx="566928" cy="56692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634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5445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&amp; EMI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508760" y="48554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financing-ready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5312664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41324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2943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finance ledger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08760" y="56052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payroll, vendor AP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635240" y="1828800"/>
            <a:ext cx="3749040" cy="4297680"/>
          </a:xfrm>
          <a:prstGeom prst="roundRect">
            <a:avLst>
              <a:gd name="adj" fmla="val 2927"/>
            </a:avLst>
          </a:prstGeom>
          <a:solidFill>
            <a:srgbClr val="0E2A24"/>
          </a:solidFill>
          <a:ln/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55280" y="2194560"/>
            <a:ext cx="731520" cy="7315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3317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guessing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3611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we make money this month?" becomes a dashboard, not a debate.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95528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· Vouchers · Bank &amp; cashbook · GST records · Payroll · Vendor payments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revenue leaking through missed follow-ups.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communication engines work in the background and feed one unified inbox — so no patient, lead or opportunity is ever forgotten.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017520"/>
            <a:ext cx="603504" cy="603504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1272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03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4114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patients back on schedule, automatically.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86200" y="3017520"/>
            <a:ext cx="603504" cy="603504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31272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3703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86200" y="4114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accepted-but-unbooked treatment.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4652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20840" y="3017520"/>
            <a:ext cx="603504" cy="603504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31272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3703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/ inbound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20840" y="4114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converts new enquiries.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28116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55480" y="3017520"/>
            <a:ext cx="603504" cy="603504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312724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55480" y="3703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555480" y="4114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and partner clinics in one place.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inbox. Templates, huddles, follow-ups and patient relationship notes, all in sync.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EDGE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copilot built in — and it stays private.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642616"/>
            <a:ext cx="731520" cy="73152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7977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"Tulip" copilot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9848" y="4087368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draft messages, pull up a patient — across the whole app, with confirm-cards before anything clinical or financial happens.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233172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2642616"/>
            <a:ext cx="731520" cy="73152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77977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→ clinical notes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18888" y="4087368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after a consult; it transcribes and turns it into structured notes. Multilingual in, clean English out.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75320" y="233172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E1F5EE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67928" y="264261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77977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67928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67928" y="4087368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runs on your own machine — patient data doesn't leave the clinic. Private by design.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growing market — and we'd only need a sliver.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0E2A24"/>
          </a:solidFill>
          <a:ln/>
          <a:effectLst>
            <a:outerShdw sx="100000" sy="100000" kx="0" ky="0" algn="bl" rotWithShape="0" blurRad="114300" dist="38100" dir="5400000">
              <a:srgbClr val="0E2A24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41448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3,76,721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31363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dentists in India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48386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in private practice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224028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441448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₹620 Cr → ₹1,370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31363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dental software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48386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~12% a year to 2030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224028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41448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₹2.6 lakh Cr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58200" y="313639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in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348386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to ₹6 lakh Cr by 2034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that matters: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clinics at ₹2,500/month is ₹1.5 crore a year — and that's barely 0.1% of India's dentists. We don't need to win the market. We need a sliver.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Research; Market Research Future; Dental Council of India. USD figures converted at approx Rs 94/$ (Jun 2026); market figures are estimates; revenue example is illustrative.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one clinic. Then grow on evidence.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22402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2402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E1F5EE"/>
          </a:solidFill>
          <a:ln/>
        </p:spPr>
      </p:sp>
      <p:sp>
        <p:nvSpPr>
          <p:cNvPr id="6" name="Shape 3"/>
          <p:cNvSpPr/>
          <p:nvPr/>
        </p:nvSpPr>
        <p:spPr>
          <a:xfrm>
            <a:off x="7955280" y="2560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264261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2208" y="25237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first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522208" y="2834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our own clinic. Fix everything a real dentist hates — for free.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955280" y="37673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384962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22208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on proof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22208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nearby clinics with a system that already works, not a promise.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955280" y="49743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505663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22208" y="4937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522208" y="524865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upfront cost. It grows only as clinics actually pay.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943600" cy="5943600"/>
          </a:xfrm>
          <a:prstGeom prst="ellipse">
            <a:avLst/>
          </a:prstGeom>
          <a:solidFill>
            <a:srgbClr val="143A3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77724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92354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DENTFLUENCE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nearly there. I just need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toughest user in it.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868680" y="411480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24712" y="4370832"/>
            <a:ext cx="530352" cy="53035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47141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for real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24712" y="5321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clinic on it and break it where it breaks.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07992" y="411480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64024" y="4370832"/>
            <a:ext cx="530352" cy="53035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447141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64024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Bargain hard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764024" y="5321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what's missing, clumsy, or not worth paying for.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47304" y="411480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5392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03336" y="4370832"/>
            <a:ext cx="530352" cy="53035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47141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03336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we sell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403336" y="5321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 wins you over, we take it to clinics together.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Dentfluence</dc:title>
  <dc:subject>PptxGenJS Presentation</dc:subject>
  <dc:creator>Sumit</dc:creator>
  <cp:lastModifiedBy>Sumit</cp:lastModifiedBy>
  <cp:revision>1</cp:revision>
  <dcterms:created xsi:type="dcterms:W3CDTF">2026-06-23T08:57:38Z</dcterms:created>
  <dcterms:modified xsi:type="dcterms:W3CDTF">2026-06-23T08:57:38Z</dcterms:modified>
</cp:coreProperties>
</file>